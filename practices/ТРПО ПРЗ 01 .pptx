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разработки программного обеспечения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1" dirty="0"/>
              <a:t>Практическое занятие №1: Анализ провальных IT-проектов и выбор модели ЖЦ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1649691"/>
            <a:ext cx="1219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Цель занятия: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Научиться на реальных примерах идентифицировать причины провала IT-проектов и обосновывать выбор модели жизненного цикла для конкретного кейса.</a:t>
            </a:r>
            <a:endParaRPr lang="en-US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endParaRPr lang="en-US" sz="2800" kern="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b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Формат: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Мини-лекция -&gt; Работа в группах -&gt; Презентация решений -&gt; Обсуждение.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44369-6FC4-618E-E22F-90C1B045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AD7D90-DD2A-57BD-D6F2-83C3A46E4117}"/>
              </a:ext>
            </a:extLst>
          </p:cNvPr>
          <p:cNvSpPr txBox="1"/>
          <p:nvPr/>
        </p:nvSpPr>
        <p:spPr>
          <a:xfrm>
            <a:off x="3179191" y="8871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Формирование групп и распределение кейсов.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6A7D4-24EF-34FC-A973-752D366D5994}"/>
              </a:ext>
            </a:extLst>
          </p:cNvPr>
          <p:cNvSpPr txBox="1"/>
          <p:nvPr/>
        </p:nvSpPr>
        <p:spPr>
          <a:xfrm>
            <a:off x="-18852" y="726657"/>
            <a:ext cx="12192000" cy="5404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Кейс А: Государственный портал.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Разработка сложного портала для госуслуг. Требования полностью фиксированы и прописаны в 100-страничном ТЗ. Сроки и бюджет жестко заданы законом о госзакупках. Проект длится 2 года.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endParaRPr lang="ru-RU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1371600" algn="l"/>
              </a:tabLst>
            </a:pP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Кейс Б: Мобильное приложение для стартапа.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Идея приложения по доставке еды от ресторанов-партнеров. Рынок очень динамичный, у стартапа есть конкуренты. Требования размыты и могут часто меняться по мере изучения рынка. Бюджет ограничен.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endParaRPr lang="ru-RU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endParaRPr lang="ru-RU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1371600" algn="l"/>
              </a:tabLst>
            </a:pPr>
            <a:endParaRPr lang="ru-RU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Кейс В: Система управления для банка.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Необходимо заменить устаревшую систему расчета кредитных рисков. Процессы строго регламентированы, ошибки недопустимы (высокие финансовые и юридические риски). Требования к безопасности и надежности крайне высоки.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9062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0AC9-B753-AF7F-8306-F5D97E40C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2F6663-0E9C-1B26-0264-D12F5220E057}"/>
              </a:ext>
            </a:extLst>
          </p:cNvPr>
          <p:cNvSpPr txBox="1"/>
          <p:nvPr/>
        </p:nvSpPr>
        <p:spPr>
          <a:xfrm>
            <a:off x="1" y="103667"/>
            <a:ext cx="12191999" cy="246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Задача для групп: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Проанализировать кейс и ответить на вопросы: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Диагноз: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Какие </a:t>
            </a: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риски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являются ключевыми для этого проекта? (На основе лекции №1: проблемы с требованиями, управлением, технологиями и т.д.)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Лечение: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Какая </a:t>
            </a: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модель жизненного цикла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(</a:t>
            </a:r>
            <a:r>
              <a:rPr lang="ru-RU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Waterfall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Agile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итерационная) была бы наиболее подходящей и </a:t>
            </a: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почему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Архитектура решения: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Предложите короткий </a:t>
            </a: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план из 3-4 шагов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по запуску этого проекта с выбранной моделью.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820D2C-0495-7812-1556-FEA8694C10DA}"/>
              </a:ext>
            </a:extLst>
          </p:cNvPr>
          <p:cNvSpPr txBox="1"/>
          <p:nvPr/>
        </p:nvSpPr>
        <p:spPr>
          <a:xfrm>
            <a:off x="-1" y="2926250"/>
            <a:ext cx="12113443" cy="1167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Подготовка к презентации.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Группы структурируют свои выводы для краткого представления (2-3 минуты на группу).</a:t>
            </a:r>
            <a:endParaRPr lang="ru-RU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Выбирают выступающего.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159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C528D-1ABD-C1A0-CB19-B063B8FE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6736B4D5-D5C1-3098-B9A0-21DEBA48C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830827"/>
              </p:ext>
            </p:extLst>
          </p:nvPr>
        </p:nvGraphicFramePr>
        <p:xfrm>
          <a:off x="1326058" y="1351260"/>
          <a:ext cx="9238225" cy="4791020"/>
        </p:xfrm>
        <a:graphic>
          <a:graphicData uri="http://schemas.openxmlformats.org/drawingml/2006/table">
            <a:tbl>
              <a:tblPr/>
              <a:tblGrid>
                <a:gridCol w="1974298">
                  <a:extLst>
                    <a:ext uri="{9D8B030D-6E8A-4147-A177-3AD203B41FA5}">
                      <a16:colId xmlns:a16="http://schemas.microsoft.com/office/drawing/2014/main" val="2542437476"/>
                    </a:ext>
                  </a:extLst>
                </a:gridCol>
                <a:gridCol w="2421309">
                  <a:extLst>
                    <a:ext uri="{9D8B030D-6E8A-4147-A177-3AD203B41FA5}">
                      <a16:colId xmlns:a16="http://schemas.microsoft.com/office/drawing/2014/main" val="822935447"/>
                    </a:ext>
                  </a:extLst>
                </a:gridCol>
                <a:gridCol w="2421309">
                  <a:extLst>
                    <a:ext uri="{9D8B030D-6E8A-4147-A177-3AD203B41FA5}">
                      <a16:colId xmlns:a16="http://schemas.microsoft.com/office/drawing/2014/main" val="3663900581"/>
                    </a:ext>
                  </a:extLst>
                </a:gridCol>
                <a:gridCol w="2421309">
                  <a:extLst>
                    <a:ext uri="{9D8B030D-6E8A-4147-A177-3AD203B41FA5}">
                      <a16:colId xmlns:a16="http://schemas.microsoft.com/office/drawing/2014/main" val="4239904459"/>
                    </a:ext>
                  </a:extLst>
                </a:gridCol>
              </a:tblGrid>
              <a:tr h="37934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L="80332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Waterfall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quote-cjk-patch"/>
                        </a:rPr>
                        <a:t>Agile (Scrum/Kanban)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Итерационная модель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22073"/>
                  </a:ext>
                </a:extLst>
              </a:tr>
              <a:tr h="5913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1">
                          <a:effectLst/>
                          <a:latin typeface="quote-cjk-patch"/>
                        </a:rPr>
                        <a:t>Определенность требований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0332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Низкая / Средняя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949249"/>
                  </a:ext>
                </a:extLst>
              </a:tr>
              <a:tr h="5913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1">
                          <a:effectLst/>
                          <a:latin typeface="quote-cjk-patch"/>
                        </a:rPr>
                        <a:t>Гибкость к изменениям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0332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Очень низкая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Очень высокая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611153"/>
                  </a:ext>
                </a:extLst>
              </a:tr>
              <a:tr h="5913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1">
                          <a:effectLst/>
                          <a:latin typeface="quote-cjk-patch"/>
                        </a:rPr>
                        <a:t>Риски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0332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Обнаруживаются поздно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Обнаруживаются рано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Обнаруживаются постепенно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303447"/>
                  </a:ext>
                </a:extLst>
              </a:tr>
              <a:tr h="5913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1">
                          <a:effectLst/>
                          <a:latin typeface="quote-cjk-patch"/>
                        </a:rPr>
                        <a:t>Участие заказчика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0332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В начале и в конце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Постоянно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В конце каждой итерации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348992"/>
                  </a:ext>
                </a:extLst>
              </a:tr>
              <a:tr h="5913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1">
                          <a:effectLst/>
                          <a:latin typeface="quote-cjk-patch"/>
                        </a:rPr>
                        <a:t>Размер и сложность проекта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0332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Крупные, регулируемые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Любые, чаще средние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Средние, крупные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64289"/>
                  </a:ext>
                </a:extLst>
              </a:tr>
              <a:tr h="10153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1">
                          <a:effectLst/>
                          <a:latin typeface="quote-cjk-patch"/>
                        </a:rPr>
                        <a:t>Ключевое преимущество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0332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Предсказуемость сроков/бюджета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>
                          <a:effectLst/>
                          <a:latin typeface="quote-cjk-patch"/>
                        </a:rPr>
                        <a:t>Скорость выхода на рынок, удовлетворенность клиента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Сбалансированный подход</a:t>
                      </a:r>
                    </a:p>
                  </a:txBody>
                  <a:tcPr marL="133887" marR="133887" marT="83680" marB="83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56373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7A6932E-5CD8-277B-BC1E-6CB340245C3A}"/>
              </a:ext>
            </a:extLst>
          </p:cNvPr>
          <p:cNvSpPr txBox="1"/>
          <p:nvPr/>
        </p:nvSpPr>
        <p:spPr>
          <a:xfrm>
            <a:off x="3188617" y="534901"/>
            <a:ext cx="6094428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Шпаргалка "Критерии выбора модели ЖЦ"</a:t>
            </a:r>
          </a:p>
        </p:txBody>
      </p:sp>
    </p:spTree>
    <p:extLst>
      <p:ext uri="{BB962C8B-B14F-4D97-AF65-F5344CB8AC3E}">
        <p14:creationId xmlns:p14="http://schemas.microsoft.com/office/powerpoint/2010/main" val="403305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2CBBA-BA3B-9244-E328-3A6CB0CD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E791E2-E3CB-F861-D706-ED209E9BFA60}"/>
              </a:ext>
            </a:extLst>
          </p:cNvPr>
          <p:cNvSpPr txBox="1"/>
          <p:nvPr/>
        </p:nvSpPr>
        <p:spPr>
          <a:xfrm>
            <a:off x="3094350" y="1189782"/>
            <a:ext cx="5861115" cy="5668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Название команды: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 ________________</a:t>
            </a:r>
            <a:b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Анализ кейса: _______________ (название)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Диагноз: Ключевые риски и проблемы проекта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*(Выпишите 3-4 главные причины, которые, по вашему мнению, привели к проблемам)*</a:t>
            </a: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Лечение: Выбор модели ЖЦ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 algn="l">
              <a:buFont typeface="+mj-lt"/>
              <a:buAutoNum type="arabicPeriod"/>
            </a:pP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Наша команда считает, что для этого проекта наиболее подходит: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 algn="l">
              <a:buFont typeface="+mj-lt"/>
              <a:buAutoNum type="arabicPeriod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Модель: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 ___________________________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Обоснование выбора: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(Используйте критерии из шпаргалки)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 algn="l">
              <a:buFont typeface="+mj-lt"/>
              <a:buAutoNum type="arabicPeriod"/>
            </a:pPr>
            <a:b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 algn="l">
              <a:buFont typeface="+mj-lt"/>
              <a:buAutoNum type="arabicPeriod"/>
            </a:pPr>
            <a:b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План действий (3-4 шага)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1143000" lvl="2" indent="-22860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600" b="0" i="1" dirty="0">
                <a:solidFill>
                  <a:srgbClr val="0F1115"/>
                </a:solidFill>
                <a:effectLst/>
                <a:latin typeface="quote-cjk-patch"/>
              </a:rPr>
              <a:t>Как бы вы начали проект, используя выбранную модель?</a:t>
            </a:r>
            <a:b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1E0AC-11A9-5729-353E-D60750B34E65}"/>
              </a:ext>
            </a:extLst>
          </p:cNvPr>
          <p:cNvSpPr txBox="1"/>
          <p:nvPr/>
        </p:nvSpPr>
        <p:spPr>
          <a:xfrm>
            <a:off x="3094350" y="356509"/>
            <a:ext cx="300165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Бланк для работы в группе</a:t>
            </a:r>
          </a:p>
        </p:txBody>
      </p:sp>
    </p:spTree>
    <p:extLst>
      <p:ext uri="{BB962C8B-B14F-4D97-AF65-F5344CB8AC3E}">
        <p14:creationId xmlns:p14="http://schemas.microsoft.com/office/powerpoint/2010/main" val="5297140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451</Words>
  <Application>Microsoft Office PowerPoint</Application>
  <PresentationFormat>Широкоэкранный</PresentationFormat>
  <Paragraphs>64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quote-cjk-patch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1</cp:revision>
  <dcterms:created xsi:type="dcterms:W3CDTF">2025-09-19T18:20:34Z</dcterms:created>
  <dcterms:modified xsi:type="dcterms:W3CDTF">2025-09-19T18:51:41Z</dcterms:modified>
</cp:coreProperties>
</file>