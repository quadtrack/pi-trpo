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разработки программного обеспечения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/>
              <a:t>Практическое занятие №2: Формулировка пользовательских историй и сценариев использования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1065229"/>
            <a:ext cx="1219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b="1" dirty="0"/>
              <a:t>Цель занятия:</a:t>
            </a:r>
            <a:r>
              <a:rPr lang="ru-RU" sz="3200" dirty="0"/>
              <a:t> Научиться на практике преобразовывать размытые пожелания заказчика в структурированные требования в формате пользовательских историй (User </a:t>
            </a:r>
            <a:r>
              <a:rPr lang="ru-RU" sz="3200" dirty="0" err="1"/>
              <a:t>Stories</a:t>
            </a:r>
            <a:r>
              <a:rPr lang="ru-RU" sz="3200" dirty="0"/>
              <a:t>) и сценариев использования (</a:t>
            </a:r>
            <a:r>
              <a:rPr lang="ru-RU" sz="3200" dirty="0" err="1"/>
              <a:t>Use</a:t>
            </a:r>
            <a:r>
              <a:rPr lang="ru-RU" sz="3200" dirty="0"/>
              <a:t> </a:t>
            </a:r>
            <a:r>
              <a:rPr lang="ru-RU" sz="3200" dirty="0" err="1"/>
              <a:t>Cases</a:t>
            </a:r>
            <a:r>
              <a:rPr lang="ru-RU" sz="3200" dirty="0"/>
              <a:t>).</a:t>
            </a:r>
            <a:endParaRPr lang="en-US" sz="3200" kern="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b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3200" b="1" dirty="0"/>
              <a:t>Формат:</a:t>
            </a:r>
            <a:r>
              <a:rPr lang="ru-RU" sz="3200" dirty="0"/>
              <a:t> Мини-лекция -&gt; Индивидуальная работа -&gt; Работа в парах/группах -&gt; Презентация и обсуждение.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44369-6FC4-618E-E22F-90C1B045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D23F8B5-82AE-0F96-75CB-ED329A8AF62C}"/>
              </a:ext>
            </a:extLst>
          </p:cNvPr>
          <p:cNvSpPr txBox="1"/>
          <p:nvPr/>
        </p:nvSpPr>
        <p:spPr>
          <a:xfrm>
            <a:off x="0" y="0"/>
            <a:ext cx="12192000" cy="6915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i="1" dirty="0"/>
              <a:t>"Заказчик хочет систему управления умным домом. Он упоминает, что хочет управлять светом и температурой удаленно со смартфона, чтобы экономить энергию. Также он хочет, чтобы система сама включала свет, когда кто-то заходит в комнату, и чтобы его жена могла настраивать сценарии (например, 'кинотеатр': приглушается свет, закрываются шторы). Он беспокоится о безопасности."</a:t>
            </a:r>
            <a:endParaRPr lang="en-US" b="1" dirty="0"/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/>
              <a:t>1</a:t>
            </a:r>
            <a:r>
              <a:rPr lang="ru-RU" b="1" dirty="0"/>
              <a:t>5 мин: </a:t>
            </a: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Индивидуальная работа.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Задача для студентов: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Выписать как минимум 5 пользовательских историй на основе описания проекта.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каждой истории (обязательно) прописать: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Заголовок истории.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 в формате "Как... я хочу... чтобы...".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Как минимум 2 критерия приемлемости в формате </a:t>
            </a:r>
            <a:r>
              <a:rPr lang="ru-RU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Given-When-Then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Пример: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Заголовок: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Управление светом по расписанию.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История: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Как домовладелец, я хочу устанавливать расписание включения и выключения света в разных комнатах, чтобы экономить электроэнергию и создавать эффект присутствия.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Критерии приемлемости: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Given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что я добавил расписание для гостиной на включение в 18:00 и выключение в 23:00, </a:t>
            </a:r>
            <a:r>
              <a:rPr lang="ru-RU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наступает 18:00, </a:t>
            </a:r>
            <a:r>
              <a:rPr lang="ru-RU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свет в гостиной должен включиться.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Given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что расписание активно, </a:t>
            </a:r>
            <a:r>
              <a:rPr lang="ru-RU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When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я вручную выключаю свет в 19:00, </a:t>
            </a:r>
            <a:r>
              <a:rPr lang="ru-RU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Then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он не должен автоматически включиться в 20:00 (расписание должно быть отменено для этого цикла).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062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96676-C9E3-49FD-B217-DBEF358E4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92C7E2-A644-38C4-C2A9-6892890A3F2B}"/>
              </a:ext>
            </a:extLst>
          </p:cNvPr>
          <p:cNvSpPr txBox="1"/>
          <p:nvPr/>
        </p:nvSpPr>
        <p:spPr>
          <a:xfrm>
            <a:off x="0" y="13308"/>
            <a:ext cx="11887985" cy="195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мин: Обсуждение в парах и отбор лучших.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 объединяются в пары, сравнивают свои истории.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Вместе выбирают и дорабатывают 3 самые лучшие и полные истории от пары.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Готовятся к озвучиванию.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FB3B4B-16E9-6776-49E8-514C68922D20}"/>
              </a:ext>
            </a:extLst>
          </p:cNvPr>
          <p:cNvSpPr txBox="1"/>
          <p:nvPr/>
        </p:nvSpPr>
        <p:spPr>
          <a:xfrm>
            <a:off x="0" y="1968267"/>
            <a:ext cx="12192000" cy="1826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мин: Групповая работа.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Пары объединяются в группы по 4 человека.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Задача: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Выбрать одну пользовательскую историю (например, "Сценарий 'Кинотеатр'") и совместно заполнить шаблон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Use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Case: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0CF597-72B6-67FF-2943-5D52F8969EFD}"/>
              </a:ext>
            </a:extLst>
          </p:cNvPr>
          <p:cNvSpPr txBox="1"/>
          <p:nvPr/>
        </p:nvSpPr>
        <p:spPr>
          <a:xfrm>
            <a:off x="-1" y="3794793"/>
            <a:ext cx="12039992" cy="1361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 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мин: Подготовка к презентации </a:t>
            </a:r>
            <a:r>
              <a:rPr lang="ru-RU" sz="24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Case.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 оформляют свой сценарий на листе бумаги или в цифровом документе для презентации.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C3EA3-C051-5FFA-0B55-3EEB1352B070}"/>
              </a:ext>
            </a:extLst>
          </p:cNvPr>
          <p:cNvSpPr txBox="1"/>
          <p:nvPr/>
        </p:nvSpPr>
        <p:spPr>
          <a:xfrm>
            <a:off x="0" y="5031474"/>
            <a:ext cx="12192001" cy="1463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 мин: Презентация работ.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Каждая группа кратко (1-2 минуты) представляет свой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Case.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Преподаватель и другие студенты задают уточняющие вопросы.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9261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C528D-1ABD-C1A0-CB19-B063B8FE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79273BD-1CF6-43D2-CF24-F9393E78F724}"/>
              </a:ext>
            </a:extLst>
          </p:cNvPr>
          <p:cNvSpPr txBox="1"/>
          <p:nvPr/>
        </p:nvSpPr>
        <p:spPr>
          <a:xfrm>
            <a:off x="9425" y="389293"/>
            <a:ext cx="12192000" cy="6127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Шаблон User Story (Пользовательской истории)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Формат: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Как [&lt;Роль&gt;], я хочу [&lt;Что сделать&gt;], чтобы [&lt;Зачем/Какую пользу получить&gt;].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Структура карточки (в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Jira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Trello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или на бумаге):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Название: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Короткое название истории (например, "Управление светом по расписанию")</a:t>
            </a:r>
          </a:p>
          <a:p>
            <a:pPr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Описание: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Как домовладелец, я хочу устанавливать расписание включения и выключения света в разных комнатах, чтобы экономить электроэнергию и создавать эффект присутствия.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Критерии приемлемости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Acceptance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Criteria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в формате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Given-When-Then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742950" lvl="1" indent="-285750" algn="l">
              <a:lnSpc>
                <a:spcPts val="165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Given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[предусловие],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When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[действие пользователя/системы],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Then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[ожидаемый результат].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rgbClr val="0F1115"/>
                </a:solidFill>
                <a:effectLst/>
                <a:latin typeface="quote-cjk-patch"/>
              </a:rPr>
              <a:t>Пример: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Given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что я добавил расписание для гостиной на включение в 18:00 и выключение в 23:00, </a:t>
            </a: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When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наступает 18:00, </a:t>
            </a: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Then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свет в гостиной должен включиться.</a:t>
            </a:r>
          </a:p>
          <a:p>
            <a:pPr marL="1143000" lvl="2" indent="-2286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Given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что расписание активно, </a:t>
            </a: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When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я вручную выключаю свет в 19:00, </a:t>
            </a: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Then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он не должен автоматически включиться в 20:00 (расписание должно быть отменено для этого цикла).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Приоритет: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High/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Medium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Low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Оценка сложности: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(в Story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Points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например, 3, 5, 8...)</a:t>
            </a:r>
          </a:p>
        </p:txBody>
      </p:sp>
    </p:spTree>
    <p:extLst>
      <p:ext uri="{BB962C8B-B14F-4D97-AF65-F5344CB8AC3E}">
        <p14:creationId xmlns:p14="http://schemas.microsoft.com/office/powerpoint/2010/main" val="403305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2CBBA-BA3B-9244-E328-3A6CB0CD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F20053-B25D-07A8-0BC2-E2BE6F427073}"/>
              </a:ext>
            </a:extLst>
          </p:cNvPr>
          <p:cNvSpPr txBox="1"/>
          <p:nvPr/>
        </p:nvSpPr>
        <p:spPr>
          <a:xfrm>
            <a:off x="0" y="0"/>
            <a:ext cx="12192000" cy="6178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Шаблон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Use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Case (Сценария использования)</a:t>
            </a:r>
          </a:p>
          <a:p>
            <a:pPr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Заголовок: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Название: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Лаконичное название цели (например, "Включение сценария 'Кинотеатр'").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Актор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Actor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Кто выполняет действие (Пользователь, Домовладелец, Гость).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Зачем актор это делает (Создать атмосферу для просмотра фильма).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Предусловия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Preconditions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Что должно быть истинно до начала сценария (Пользователь авторизован. Умные устройства онлайн и доступны).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Постусловия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Postconditions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Состояние системы после успешного завершения сценария (Свет приглушен, шторы закрыты. Сценарий 'Кинотеатр' активен).</a:t>
            </a:r>
          </a:p>
          <a:p>
            <a:pPr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Основной поток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Main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Flow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Шаг 1. Актор...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Шаг 2. Система...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Шаг 3. Актор...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...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b="1" dirty="0"/>
              <a:t>Альтернативные потоки (</a:t>
            </a:r>
            <a:r>
              <a:rPr lang="ru-RU" b="1" dirty="0" err="1"/>
              <a:t>Alternative</a:t>
            </a:r>
            <a:r>
              <a:rPr lang="ru-RU" b="1" dirty="0"/>
              <a:t> </a:t>
            </a:r>
            <a:r>
              <a:rPr lang="ru-RU" b="1" dirty="0" err="1"/>
              <a:t>Flows</a:t>
            </a:r>
            <a:r>
              <a:rPr lang="ru-RU" b="1" dirty="0"/>
              <a:t>):</a:t>
            </a:r>
            <a:endParaRPr lang="ru-RU" dirty="0"/>
          </a:p>
          <a:p>
            <a:r>
              <a:rPr lang="ru-RU" b="1" dirty="0"/>
              <a:t>А.1 [Название исключения]:</a:t>
            </a:r>
            <a:r>
              <a:rPr lang="ru-RU" dirty="0"/>
              <a:t> (Например: "Устройство не отвечает")</a:t>
            </a:r>
          </a:p>
          <a:p>
            <a:pPr lvl="1"/>
            <a:r>
              <a:rPr lang="ru-RU" dirty="0"/>
              <a:t>Шаг 1. Система обнаруживает, что одно из устройств не в сети.</a:t>
            </a:r>
          </a:p>
          <a:p>
            <a:pPr lvl="1"/>
            <a:r>
              <a:rPr lang="ru-RU" dirty="0"/>
              <a:t>Шаг 2. Система уведомляет пользователя об ошибке и предлагает повторить попытку или выбрать другое устройство.</a:t>
            </a:r>
          </a:p>
          <a:p>
            <a:pPr lvl="1"/>
            <a:r>
              <a:rPr lang="ru-RU" dirty="0"/>
              <a:t>Шаг 3. Сценарий возвращается к шагу [X] основного потока или завершается.</a:t>
            </a:r>
          </a:p>
          <a:p>
            <a:r>
              <a:rPr lang="ru-RU" b="1" dirty="0"/>
              <a:t>А.2 [Название исключения]:</a:t>
            </a:r>
            <a:r>
              <a:rPr lang="ru-RU" dirty="0"/>
              <a:t> (Например: "Сценарий уже активен")</a:t>
            </a:r>
            <a:br>
              <a:rPr lang="ru-RU" dirty="0"/>
            </a:br>
            <a:r>
              <a:rPr lang="ru-RU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5297140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795</Words>
  <Application>Microsoft Office PowerPoint</Application>
  <PresentationFormat>Широкоэкранный</PresentationFormat>
  <Paragraphs>62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Menlo</vt:lpstr>
      <vt:lpstr>quote-cjk-patch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3</cp:revision>
  <dcterms:created xsi:type="dcterms:W3CDTF">2025-09-19T18:20:34Z</dcterms:created>
  <dcterms:modified xsi:type="dcterms:W3CDTF">2025-09-20T07:31:13Z</dcterms:modified>
</cp:coreProperties>
</file>