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7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870" y="132"/>
      </p:cViewPr>
      <p:guideLst>
        <p:guide orient="horz" pos="197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6F939B-D03E-D30C-A810-EEBDA7138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D796D6E-ADE2-CD1C-C647-8F50E69FF1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54BB7D-7194-4C9C-A117-D81E37A6B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B689A0-1B10-B447-8DF5-B76FB086E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72CFA4-E6B4-684D-9E2A-C1B96748D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29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3E55A4-6149-A983-0363-BFE7D04E4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FAB9FE-B873-3E72-E18C-39A157123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EC2870-7F6E-109B-8041-25E74D47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13C32C-236A-F54D-E292-41D0CA490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4F8EDF-1B27-7091-7D47-5775A543A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837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AFCB83-D2FC-83AB-039E-72B248473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E649E9-8EA1-1378-239D-EFC635AF1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EE3025-46A2-5F31-ED73-E78860B3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806FFF-C6C0-5DE1-F22F-F4C6828D0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8F3275-CFFB-FB65-9D5C-14A3FAF5B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4049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956727-548A-3309-C384-2C15A8C9F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70AFF7-FE6C-8D72-91DE-19FECB3BBF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80A1665-FAD8-2AA9-4057-198007F3F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9E6712-3ED8-DABB-C8FC-43C31B7AB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20F49A-8F5E-A113-1FFC-C2501B61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6FB815-92B1-1F33-286B-8343A8E90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956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C89510-A44E-03DE-C188-5FEEA9641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529430F-EA7F-1C72-879C-4BBC4175B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66FDB1E-510D-4A5F-8A3F-9B1F5D08D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54DC8E5-52AA-7753-3566-A382C6CE5F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7779F90-47D7-2460-83A8-B62CAEB878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50C7755-3347-4D90-6EF8-2DD306C3F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BDDCA8A-A2AF-401A-C284-5EA347E38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01B781E-BB26-1167-2ACB-AD005A8FB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309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F3A3E7-F129-6CD9-9D39-C0C4BD52E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4DBD420-4980-6586-AF75-9993055C4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AA0E24F-43AF-7E00-5BDC-D271F6C8C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9ED13AB-62D2-A8C2-247B-6C990616B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2463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830C6C5-A9A9-A031-9835-3E445316D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D157B3B-236F-59DB-B6BD-126655F86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8F42D4-D553-08AE-0D3F-1AE23CB37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519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C2B731-F2CF-CED1-E595-603B6F460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6A1EE9-BB36-302B-9B21-7BC53E358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F993FB8-D340-AA88-8A83-9F640F14B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CE24426-0AF0-F702-3E6F-EB5E7FD50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127403-AFF5-A1F1-C38B-EAE576746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DD87016-7C3B-8820-5FFA-E1F41226C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180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083BC2-5D8C-6DCC-9DB4-22045EA48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43429BF-C80C-6FB7-B257-57CBDC1FDD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7AF6F03-3F54-0FBC-2041-1417E6AF3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7682CD-F275-E00C-9E86-EC98EA0F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F279DD-417B-2C4B-28BA-0A5350BBA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514FC7C-95BE-CB51-FA62-273D7A50E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7616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50BA6A-9AE9-7C7A-3926-887923A35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89E3E1A-29AD-799B-AF38-5D6203AD2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281B96-8B5E-3649-E736-48828CE42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B8976D-6341-2F02-209A-1BABFE625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76A6FD-5AF5-7F33-A734-7DD6D253A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4221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CB62C44-C171-CB5F-5F56-26B88D1D7A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B4AD2F9-ED0C-7417-1C1D-386663A0E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8FE3A7-8B80-C7F0-DB9F-7B2D2E1B4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74A1F5-D0C0-746C-9FDA-EAFD1369D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B8AE5F-419C-3412-B52D-B3C77E65A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399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0A8ACE-89FD-86A8-11E5-2DE20E721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73113E-A006-24C6-0730-C1738BF2D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570BD6-0B00-7DFA-125A-629E83DD7C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62E36-7B94-44FF-8913-FF4B90064E98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C25892-923C-BAE0-48E6-F7061E8AD4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C92736-5165-6F55-7961-EA2F0F956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9764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8A2FC49-0F3D-10F3-3C58-C150ADDDA79A}"/>
              </a:ext>
            </a:extLst>
          </p:cNvPr>
          <p:cNvSpPr>
            <a:spLocks noGrp="1"/>
          </p:cNvSpPr>
          <p:nvPr/>
        </p:nvSpPr>
        <p:spPr>
          <a:xfrm>
            <a:off x="767408" y="637906"/>
            <a:ext cx="10009112" cy="11521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Программная инженерия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CF9474D-52CF-A0C1-82BD-88882A3B6B89}"/>
              </a:ext>
            </a:extLst>
          </p:cNvPr>
          <p:cNvSpPr/>
          <p:nvPr/>
        </p:nvSpPr>
        <p:spPr>
          <a:xfrm>
            <a:off x="2328709" y="5850762"/>
            <a:ext cx="7357848" cy="3693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ru-RU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СРЕДНЕРУССКИЙ ИНСТИТУТ УПРАВЛЕНИЯ - РАНХиГС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D372B26-2A09-4EED-6486-A25A87BA09D9}"/>
              </a:ext>
            </a:extLst>
          </p:cNvPr>
          <p:cNvSpPr/>
          <p:nvPr/>
        </p:nvSpPr>
        <p:spPr>
          <a:xfrm>
            <a:off x="1991544" y="5073564"/>
            <a:ext cx="7560840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 кафедры «Математики и информационных технологий», кандидат технических наук Абдалов Арсентий Владимирович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C8FFEF4D-BCEA-CBA4-F2AB-011E6A9000B2}"/>
              </a:ext>
            </a:extLst>
          </p:cNvPr>
          <p:cNvSpPr txBox="1"/>
          <p:nvPr/>
        </p:nvSpPr>
        <p:spPr>
          <a:xfrm>
            <a:off x="0" y="2698876"/>
            <a:ext cx="1219199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800" b="1" dirty="0"/>
              <a:t>Практическое занятие №3: Анализ и формализация требований на примере "Умного дома"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51218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81224-752A-DFD2-CFBE-6223E6F32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B05BA81-1097-457A-493F-2E5B52C3C659}"/>
              </a:ext>
            </a:extLst>
          </p:cNvPr>
          <p:cNvSpPr txBox="1"/>
          <p:nvPr/>
        </p:nvSpPr>
        <p:spPr>
          <a:xfrm>
            <a:off x="0" y="216817"/>
            <a:ext cx="1219200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Тема: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r>
              <a:rPr lang="ru-RU" sz="2800" dirty="0"/>
              <a:t>Превращение расплывчатого технического задания в структурированные, проверяемые требования.</a:t>
            </a:r>
          </a:p>
          <a:p>
            <a:pPr algn="just"/>
            <a:b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ru-RU" sz="2800" b="1" dirty="0"/>
              <a:t>Цель:</a:t>
            </a:r>
            <a:r>
              <a:rPr lang="ru-RU" sz="2800" dirty="0"/>
              <a:t> Научить студентов выявлять, </a:t>
            </a:r>
            <a:r>
              <a:rPr lang="ru-RU" sz="2800" dirty="0" err="1"/>
              <a:t>categorise</a:t>
            </a:r>
            <a:r>
              <a:rPr lang="ru-RU" sz="2800" dirty="0"/>
              <a:t> и </a:t>
            </a:r>
            <a:r>
              <a:rPr lang="ru-RU" sz="2800" dirty="0" err="1"/>
              <a:t>приоритизировать</a:t>
            </a:r>
            <a:r>
              <a:rPr lang="ru-RU" sz="2800" dirty="0"/>
              <a:t> функциональные и нефункциональные требования из текста задачи.</a:t>
            </a:r>
            <a:br>
              <a:rPr lang="ru-RU" sz="2800" dirty="0"/>
            </a:br>
            <a:endParaRPr lang="en-US" sz="2800"/>
          </a:p>
          <a:p>
            <a:pPr algn="just"/>
            <a:br>
              <a:rPr lang="ru-RU" sz="2800" dirty="0"/>
            </a:br>
            <a:r>
              <a:rPr lang="ru-RU" sz="2800" b="1" dirty="0"/>
              <a:t>Ключевые результаты:</a:t>
            </a:r>
            <a:endParaRPr lang="ru-RU" sz="2800" dirty="0"/>
          </a:p>
          <a:p>
            <a:pPr marL="514350" lvl="0" indent="-514350">
              <a:buFont typeface="+mj-lt"/>
              <a:buAutoNum type="arabicPeriod"/>
            </a:pPr>
            <a:r>
              <a:rPr lang="ru-RU" sz="2800" dirty="0"/>
              <a:t>Умение задавать уточняющие вопросы к ТЗ.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sz="2800" dirty="0"/>
              <a:t>Навык разделения требований на функциональные (ФТ) и нефункциональные (НФТ).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sz="2800" dirty="0"/>
              <a:t>Практика применения техники User </a:t>
            </a:r>
            <a:r>
              <a:rPr lang="ru-RU" sz="2800" dirty="0" err="1"/>
              <a:t>Stories</a:t>
            </a:r>
            <a:r>
              <a:rPr lang="ru-RU" sz="2800" dirty="0"/>
              <a:t> для описания ФТ.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sz="2800" dirty="0"/>
              <a:t>Опыт приоритизации требований по методу </a:t>
            </a:r>
            <a:r>
              <a:rPr lang="ru-RU" sz="2800" dirty="0" err="1"/>
              <a:t>MoSCoW</a:t>
            </a:r>
            <a:r>
              <a:rPr lang="ru-RU" sz="28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Создание первого </a:t>
            </a:r>
            <a:r>
              <a:rPr lang="ru-RU" sz="2800" dirty="0" err="1"/>
              <a:t>бэклога</a:t>
            </a:r>
            <a:r>
              <a:rPr lang="ru-RU" sz="2800" dirty="0"/>
              <a:t> продукта.</a:t>
            </a:r>
          </a:p>
        </p:txBody>
      </p:sp>
    </p:spTree>
    <p:extLst>
      <p:ext uri="{BB962C8B-B14F-4D97-AF65-F5344CB8AC3E}">
        <p14:creationId xmlns:p14="http://schemas.microsoft.com/office/powerpoint/2010/main" val="2994999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EA589-B760-70EA-46E7-F404A9AD4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5EBE93F-67DC-32F1-7C20-524A9E8B7D2C}"/>
              </a:ext>
            </a:extLst>
          </p:cNvPr>
          <p:cNvSpPr txBox="1"/>
          <p:nvPr/>
        </p:nvSpPr>
        <p:spPr>
          <a:xfrm>
            <a:off x="0" y="697584"/>
            <a:ext cx="12192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3200" b="1" dirty="0"/>
              <a:t>Задача:</a:t>
            </a:r>
            <a:r>
              <a:rPr lang="ru-RU" sz="3200" dirty="0"/>
              <a:t> Разработать систему управления "умным домом" для пожилого человека. Система должна помогать контролировать безопасность, экономить энергию и упрощать повседневные задачи. Пользователь не является техническим специалистом. Бюджет ограничен, нужно реализовать основное в кратчайшие сроки.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BCBE81-CB74-A57D-9F84-D01B560F2E54}"/>
              </a:ext>
            </a:extLst>
          </p:cNvPr>
          <p:cNvSpPr txBox="1"/>
          <p:nvPr/>
        </p:nvSpPr>
        <p:spPr>
          <a:xfrm>
            <a:off x="0" y="107565"/>
            <a:ext cx="62546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ШАГ 1: Вводная часть (0-10 минут)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955320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BEC72-31A0-931B-B3E8-1170352D2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68E2BFD-929E-DD2E-7BDF-CCA1FD25CB92}"/>
              </a:ext>
            </a:extLst>
          </p:cNvPr>
          <p:cNvSpPr txBox="1"/>
          <p:nvPr/>
        </p:nvSpPr>
        <p:spPr>
          <a:xfrm>
            <a:off x="0" y="697584"/>
            <a:ext cx="12192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(10-15 мин) Фаза вопросов.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"Прочитайте текст задания. Какие уточняющие вопросы вы бы задали заказчику?"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D18000-2CAE-146A-F46B-955BA2A8A164}"/>
              </a:ext>
            </a:extLst>
          </p:cNvPr>
          <p:cNvSpPr txBox="1"/>
          <p:nvPr/>
        </p:nvSpPr>
        <p:spPr>
          <a:xfrm>
            <a:off x="-1" y="107565"/>
            <a:ext cx="121919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ШАГ 2: Мозговой штурм и уточняющие вопросы (10-30 минут)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9CF27E-109E-140D-59B4-A2E59E7CCD18}"/>
              </a:ext>
            </a:extLst>
          </p:cNvPr>
          <p:cNvSpPr txBox="1"/>
          <p:nvPr/>
        </p:nvSpPr>
        <p:spPr>
          <a:xfrm>
            <a:off x="-1" y="2266302"/>
            <a:ext cx="62169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(15-25 мин) "Ответы заказчика".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E52555-4AD6-8D83-335E-60AB2B4AECDC}"/>
              </a:ext>
            </a:extLst>
          </p:cNvPr>
          <p:cNvSpPr txBox="1"/>
          <p:nvPr/>
        </p:nvSpPr>
        <p:spPr>
          <a:xfrm>
            <a:off x="0" y="3045496"/>
            <a:ext cx="62169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>
              <a:defRPr sz="2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ru-RU" dirty="0"/>
              <a:t>(25-30 мин) Фиксация ответов.</a:t>
            </a:r>
          </a:p>
        </p:txBody>
      </p:sp>
    </p:spTree>
    <p:extLst>
      <p:ext uri="{BB962C8B-B14F-4D97-AF65-F5344CB8AC3E}">
        <p14:creationId xmlns:p14="http://schemas.microsoft.com/office/powerpoint/2010/main" val="2397244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64E02-0313-6483-6584-C1BF048DA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60439F-6366-6EED-6C28-C05CE9C92423}"/>
              </a:ext>
            </a:extLst>
          </p:cNvPr>
          <p:cNvSpPr txBox="1"/>
          <p:nvPr/>
        </p:nvSpPr>
        <p:spPr>
          <a:xfrm>
            <a:off x="0" y="0"/>
            <a:ext cx="12190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ШАГ 3: Разделение на ФТ и НФТ (30-45 минут)</a:t>
            </a:r>
            <a:endParaRPr lang="ru-RU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7CF0CB-A6E4-6C64-0C65-FBAC00268663}"/>
              </a:ext>
            </a:extLst>
          </p:cNvPr>
          <p:cNvSpPr txBox="1"/>
          <p:nvPr/>
        </p:nvSpPr>
        <p:spPr>
          <a:xfrm>
            <a:off x="0" y="915478"/>
            <a:ext cx="12192000" cy="4358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0" lvl="2" indent="-2286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ru-RU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Функциональные требования (Что система ДЕЛАЕТ):</a:t>
            </a:r>
            <a:endParaRPr lang="ru-RU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600200" lvl="3" indent="-2286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828800" algn="l"/>
              </a:tabLst>
            </a:pP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ФТ1: </a:t>
            </a: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..</a:t>
            </a: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1600200" lvl="3" indent="-2286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828800" algn="l"/>
              </a:tabLst>
            </a:pP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ФТ2: 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...</a:t>
            </a: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1600200" lvl="3" indent="-2286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828800" algn="l"/>
              </a:tabLst>
            </a:pP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ФТ3: 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..</a:t>
            </a: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1600200" lvl="3" indent="-2286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828800" algn="l"/>
              </a:tabLst>
            </a:pP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ФТ4: 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..</a:t>
            </a: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1600200" lvl="3" indent="-2286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828800" algn="l"/>
              </a:tabLst>
            </a:pP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ФТ5: 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…</a:t>
            </a:r>
            <a:endParaRPr lang="ru-RU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ru-RU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Нефункциональные требования (Как система это ДЕЛАЕТ):</a:t>
            </a:r>
            <a:endParaRPr lang="ru-RU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600200" lvl="3" indent="-2286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828800" algn="l"/>
              </a:tabLst>
            </a:pP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НФТ1 (</a:t>
            </a:r>
            <a:r>
              <a:rPr lang="ru-RU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Usability</a:t>
            </a: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): 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...</a:t>
            </a: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1600200" lvl="3" indent="-2286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828800" algn="l"/>
              </a:tabLst>
            </a:pP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НФТ2 (</a:t>
            </a:r>
            <a:r>
              <a:rPr lang="ru-RU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Reliability</a:t>
            </a: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): </a:t>
            </a: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...</a:t>
            </a: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1600200" lvl="3" indent="-2286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828800" algn="l"/>
              </a:tabLst>
            </a:pP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НФТ3 (Performance): </a:t>
            </a: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..</a:t>
            </a: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1600200" lvl="3" indent="-2286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828800" algn="l"/>
              </a:tabLst>
            </a:pP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НФТ4 (Security): 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..</a:t>
            </a:r>
            <a:r>
              <a:rPr lang="ru-RU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8B2E27-50DD-9D8E-6FEA-667A28849207}"/>
              </a:ext>
            </a:extLst>
          </p:cNvPr>
          <p:cNvSpPr txBox="1"/>
          <p:nvPr/>
        </p:nvSpPr>
        <p:spPr>
          <a:xfrm>
            <a:off x="1956063" y="5582617"/>
            <a:ext cx="84417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(40-45 мин) Презентация и объединение результатов.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623610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BD362-3D45-5F6D-0A38-0A4FBB3E9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7AC85D-0069-1A05-7080-0F4F301B31B3}"/>
              </a:ext>
            </a:extLst>
          </p:cNvPr>
          <p:cNvSpPr txBox="1"/>
          <p:nvPr/>
        </p:nvSpPr>
        <p:spPr>
          <a:xfrm>
            <a:off x="0" y="0"/>
            <a:ext cx="12190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ШАГ </a:t>
            </a: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4</a:t>
            </a: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ru-RU" sz="2800" b="1" dirty="0"/>
              <a:t>Создание User </a:t>
            </a:r>
            <a:r>
              <a:rPr lang="ru-RU" sz="2800" b="1" dirty="0" err="1"/>
              <a:t>Stories</a:t>
            </a:r>
            <a:r>
              <a:rPr lang="ru-RU" sz="2800" b="1" dirty="0"/>
              <a:t> и критериев приемки (45-65 минут)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843799-7249-8265-7958-65E17A332BBF}"/>
              </a:ext>
            </a:extLst>
          </p:cNvPr>
          <p:cNvSpPr txBox="1"/>
          <p:nvPr/>
        </p:nvSpPr>
        <p:spPr>
          <a:xfrm>
            <a:off x="909687" y="925885"/>
            <a:ext cx="99217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"Как [Роль], я хочу [Возможность], чтобы [Выгода/Цель]".</a:t>
            </a:r>
            <a:endParaRPr lang="ru-RU" sz="28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3A4D96-1F4D-FF7B-608B-543D69636A6E}"/>
              </a:ext>
            </a:extLst>
          </p:cNvPr>
          <p:cNvSpPr txBox="1"/>
          <p:nvPr/>
        </p:nvSpPr>
        <p:spPr>
          <a:xfrm>
            <a:off x="9427" y="2299497"/>
            <a:ext cx="1219042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0150" lvl="2" indent="-285750" algn="just">
              <a:buFont typeface="Arial" panose="020B0604020202020204" pitchFamily="34" charset="0"/>
              <a:buChar char="•"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ФТ1: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"Как дедушка, я хочу, чтобы свет в коридоре включался автоматически, когда я там иду, чтобы я не споткнулся в темноте и не тыкал в выключатель."</a:t>
            </a:r>
          </a:p>
          <a:p>
            <a:pPr marL="1657350" lvl="3" indent="-285750" algn="just">
              <a:buFont typeface="Arial" panose="020B0604020202020204" pitchFamily="34" charset="0"/>
              <a:buChar char="•"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Критерии приемки (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Acceptance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Criteria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14550" lvl="4" indent="-285750" algn="just">
              <a:buFont typeface="Courier New" panose="02070309020205020404" pitchFamily="49" charset="0"/>
              <a:buChar char="o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Свет включается в течение 1 секунды после обнаружения движения.</a:t>
            </a:r>
          </a:p>
          <a:p>
            <a:pPr marL="2114550" lvl="4" indent="-285750" algn="just">
              <a:buFont typeface="Courier New" panose="02070309020205020404" pitchFamily="49" charset="0"/>
              <a:buChar char="o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Свет выключается через 2 минуты после последнего обнаружения движения.</a:t>
            </a:r>
          </a:p>
          <a:p>
            <a:pPr marL="2114550" lvl="4" indent="-285750" algn="just">
              <a:buFont typeface="Courier New" panose="02070309020205020404" pitchFamily="49" charset="0"/>
              <a:buChar char="o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Датчик корректно работает в условиях слабой освещенности.</a:t>
            </a:r>
          </a:p>
        </p:txBody>
      </p:sp>
    </p:spTree>
    <p:extLst>
      <p:ext uri="{BB962C8B-B14F-4D97-AF65-F5344CB8AC3E}">
        <p14:creationId xmlns:p14="http://schemas.microsoft.com/office/powerpoint/2010/main" val="470474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AA071-F183-8C1F-030D-5055AADAF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2FEE94-18E6-42CD-C687-13FFD01BC24C}"/>
              </a:ext>
            </a:extLst>
          </p:cNvPr>
          <p:cNvSpPr txBox="1"/>
          <p:nvPr/>
        </p:nvSpPr>
        <p:spPr>
          <a:xfrm>
            <a:off x="0" y="0"/>
            <a:ext cx="12190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Запись историй в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бэклог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871463-ED91-60AC-E79E-FE250F18F644}"/>
              </a:ext>
            </a:extLst>
          </p:cNvPr>
          <p:cNvSpPr txBox="1"/>
          <p:nvPr/>
        </p:nvSpPr>
        <p:spPr>
          <a:xfrm>
            <a:off x="494908" y="626528"/>
            <a:ext cx="99217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Перенести лучшие User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Stories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таблицу.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DCADC959-D8F9-9074-E62C-0DB3C5510C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568447"/>
              </p:ext>
            </p:extLst>
          </p:nvPr>
        </p:nvGraphicFramePr>
        <p:xfrm>
          <a:off x="734505" y="1756047"/>
          <a:ext cx="10515600" cy="38227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38544505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734044117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557266484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1034616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Story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Критерии приемки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Приоритет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314932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US1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Как дедушка, я хочу, чтобы свет включался автоматически...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Свет включается через 1 сек., выключается через 2 мин., работает в темноте.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Must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260715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US2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Как внук, я хочу, чтобы система напоминала дедушке о таблетках...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Напоминание по времени, повтор, уведомление внуку при отсутствии подтверждения.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Must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124894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US3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Как дедушка, я хочу управлять светом голосом, чтобы мне не приходилось искать выключатель.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Система понимает команды "включи/выключи свет [в комнате]", реагирует за 2 сек.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Could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508087459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BDE3DD4-158E-2314-DDC8-7AF9A95AB991}"/>
              </a:ext>
            </a:extLst>
          </p:cNvPr>
          <p:cNvSpPr txBox="1"/>
          <p:nvPr/>
        </p:nvSpPr>
        <p:spPr>
          <a:xfrm>
            <a:off x="2914454" y="1265859"/>
            <a:ext cx="6155702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Пример структуры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бэклога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033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D0E10-7721-208A-3D31-66EDEC220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B38C69-4EC2-2E59-5E1F-371EA1756D82}"/>
              </a:ext>
            </a:extLst>
          </p:cNvPr>
          <p:cNvSpPr txBox="1"/>
          <p:nvPr/>
        </p:nvSpPr>
        <p:spPr>
          <a:xfrm>
            <a:off x="0" y="0"/>
            <a:ext cx="12190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ШАГ 5: Приоритизация по методу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MoSCoW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ABA8EC-167C-25CD-F787-7EB9E60CF615}"/>
              </a:ext>
            </a:extLst>
          </p:cNvPr>
          <p:cNvSpPr txBox="1"/>
          <p:nvPr/>
        </p:nvSpPr>
        <p:spPr>
          <a:xfrm>
            <a:off x="-1572" y="747546"/>
            <a:ext cx="12192000" cy="2213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3525" lvl="2" indent="-2286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 (</a:t>
            </a:r>
            <a:r>
              <a:rPr lang="ru-RU" sz="2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Must</a:t>
            </a: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Без этого система не будет выпущена. Ядро продукта.</a:t>
            </a:r>
          </a:p>
          <a:p>
            <a:pPr marL="263525" lvl="2" indent="-2286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 (</a:t>
            </a:r>
            <a:r>
              <a:rPr lang="ru-RU" sz="2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Should</a:t>
            </a: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Очень важно, но не критично для первого релиза.</a:t>
            </a:r>
          </a:p>
          <a:p>
            <a:pPr marL="263525" lvl="2" indent="-2286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 (</a:t>
            </a:r>
            <a:r>
              <a:rPr lang="ru-RU" sz="2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Could</a:t>
            </a: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Желательно, но может быть отложено без большого ущерба.</a:t>
            </a:r>
          </a:p>
          <a:p>
            <a:pPr marL="263525" lvl="2" indent="-2286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 (</a:t>
            </a:r>
            <a:r>
              <a:rPr lang="ru-RU" sz="2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Won't</a:t>
            </a: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</a:t>
            </a: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time</a:t>
            </a: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Решено не включать в текущую версию.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B16D6F-08DA-BD08-6E63-BEB3AAA3CC73}"/>
              </a:ext>
            </a:extLst>
          </p:cNvPr>
          <p:cNvSpPr txBox="1"/>
          <p:nvPr/>
        </p:nvSpPr>
        <p:spPr>
          <a:xfrm>
            <a:off x="0" y="3184978"/>
            <a:ext cx="12190427" cy="768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(70-75 мин) Практическое упражнение.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Задание: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Командам провести приоритизацию своего списка требований из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бэклога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53A238-F094-6EAE-7528-06104999A0F1}"/>
              </a:ext>
            </a:extLst>
          </p:cNvPr>
          <p:cNvSpPr txBox="1"/>
          <p:nvPr/>
        </p:nvSpPr>
        <p:spPr>
          <a:xfrm>
            <a:off x="0" y="4328982"/>
            <a:ext cx="12122870" cy="67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Совет: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Спросить себя: "Что должно работать в самом первом, минимальном варианте системы, который мы установим дедушке?"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1837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1EEB6-1D09-FF5D-F259-A05070440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300709A-E3A8-1A40-9522-73383E742B9E}"/>
              </a:ext>
            </a:extLst>
          </p:cNvPr>
          <p:cNvSpPr txBox="1"/>
          <p:nvPr/>
        </p:nvSpPr>
        <p:spPr>
          <a:xfrm>
            <a:off x="0" y="1707789"/>
            <a:ext cx="12191999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Пример результата:</a:t>
            </a:r>
            <a:endParaRPr lang="ru-RU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Must: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US1, US2, US4 (</a:t>
            </a: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датчик дыма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ru-RU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ru-RU" sz="24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Should</a:t>
            </a:r>
            <a:r>
              <a:rPr lang="ru-RU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US3 (голосовое управление), НФТ2 (работа без интернета).</a:t>
            </a:r>
          </a:p>
          <a:p>
            <a:pPr marL="1143000" lvl="2" indent="-2286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ru-RU" sz="24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Could</a:t>
            </a:r>
            <a:r>
              <a:rPr lang="ru-RU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US5 (дача команд на включение чайника), "Уведомление о протечке воды".</a:t>
            </a:r>
          </a:p>
          <a:p>
            <a:pPr marL="1143000" lvl="2" indent="-2286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ru-RU" sz="24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Won't</a:t>
            </a:r>
            <a:r>
              <a:rPr lang="ru-RU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"Интеграция с умными розетками всех производителей".</a:t>
            </a:r>
          </a:p>
        </p:txBody>
      </p:sp>
    </p:spTree>
    <p:extLst>
      <p:ext uri="{BB962C8B-B14F-4D97-AF65-F5344CB8AC3E}">
        <p14:creationId xmlns:p14="http://schemas.microsoft.com/office/powerpoint/2010/main" val="1049962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551D9-2F33-8555-A491-AA6769E80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20778F-F24C-6944-8E63-AA22AC490ED6}"/>
              </a:ext>
            </a:extLst>
          </p:cNvPr>
          <p:cNvSpPr txBox="1"/>
          <p:nvPr/>
        </p:nvSpPr>
        <p:spPr>
          <a:xfrm>
            <a:off x="0" y="0"/>
            <a:ext cx="92359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ШАГ 6: Итоги и рефлексия (75-80 минут)</a:t>
            </a:r>
            <a:endParaRPr lang="ru-RU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7F37C6-6A26-F3EF-F5AB-07C39B1363B0}"/>
              </a:ext>
            </a:extLst>
          </p:cNvPr>
          <p:cNvSpPr txBox="1"/>
          <p:nvPr/>
        </p:nvSpPr>
        <p:spPr>
          <a:xfrm>
            <a:off x="0" y="1080820"/>
            <a:ext cx="12191999" cy="1649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ИТОГИ</a:t>
            </a: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8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..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...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4CF7FB-A69A-07DF-4CF2-4CEB3D11BF3C}"/>
              </a:ext>
            </a:extLst>
          </p:cNvPr>
          <p:cNvSpPr txBox="1"/>
          <p:nvPr/>
        </p:nvSpPr>
        <p:spPr>
          <a:xfrm>
            <a:off x="1809946" y="3246690"/>
            <a:ext cx="7550870" cy="52225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 sz="2800" b="1" kern="1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defRPr>
            </a:lvl1pPr>
            <a:lvl2pPr marL="742950" lvl="1" indent="-285750" algn="just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  <a:defRPr sz="2800" kern="1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defRPr>
            </a:lvl2pPr>
          </a:lstStyle>
          <a:p>
            <a:r>
              <a:rPr lang="ru-RU" dirty="0"/>
              <a:t>Какой этап показался самым сложным?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D09598-A99C-DB58-21B5-CA99993F61B4}"/>
              </a:ext>
            </a:extLst>
          </p:cNvPr>
          <p:cNvSpPr txBox="1"/>
          <p:nvPr/>
        </p:nvSpPr>
        <p:spPr>
          <a:xfrm>
            <a:off x="0" y="4581675"/>
            <a:ext cx="1219199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Домашнее задание: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Выбрать любую программу и попробовать описать для нее 3 функциональных и 2 нефункциональных требования.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04165039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695</Words>
  <Application>Microsoft Office PowerPoint</Application>
  <PresentationFormat>Широкоэкранный</PresentationFormat>
  <Paragraphs>77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Symbol</vt:lpstr>
      <vt:lpstr>Times New Roman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Арсентий Абдалов</dc:creator>
  <cp:lastModifiedBy>Арсентий Абдалов</cp:lastModifiedBy>
  <cp:revision>8</cp:revision>
  <dcterms:created xsi:type="dcterms:W3CDTF">2025-09-19T18:20:34Z</dcterms:created>
  <dcterms:modified xsi:type="dcterms:W3CDTF">2025-09-26T18:52:34Z</dcterms:modified>
</cp:coreProperties>
</file>