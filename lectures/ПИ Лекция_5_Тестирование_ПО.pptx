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Лекция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Тестирование программного обеспечения • Обеспечение качества и надёжности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80 минут</a:t>
            </a:r>
          </a:p>
          <a:p>
            <a:pPr>
              <a:spcAft>
                <a:spcPts val="800"/>
              </a:spcAft>
              <a:defRPr sz="2400"/>
            </a:pPr>
            <a:r>
              <a:t>Цель: понять роль тестирования в жизненном цикле ПО</a:t>
            </a:r>
          </a:p>
          <a:p>
            <a:pPr>
              <a:spcAft>
                <a:spcPts val="800"/>
              </a:spcAft>
              <a:defRPr sz="2400"/>
            </a:pPr>
            <a:r>
              <a:t>Практика: unit-тесты, TDD, покрытие и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Зачем тестировать ПО?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Можно ли доверять коду, который не тестировался?</a:t>
            </a:r>
          </a:p>
          <a:p>
            <a:pPr>
              <a:spcAft>
                <a:spcPts val="800"/>
              </a:spcAft>
              <a:defRPr sz="2000"/>
            </a:pPr>
            <a:r>
              <a:t>Нужно находить ошибки до того, как их найдёт пользователь.</a:t>
            </a:r>
          </a:p>
          <a:p>
            <a:pPr>
              <a:spcAft>
                <a:spcPts val="800"/>
              </a:spcAft>
              <a:defRPr sz="2000"/>
            </a:pPr>
            <a:r>
              <a:t>Тестирование снижает риски и будущие затраты.</a:t>
            </a:r>
          </a:p>
          <a:p>
            <a:pPr>
              <a:spcAft>
                <a:spcPts val="800"/>
              </a:spcAft>
              <a:defRPr sz="2000"/>
            </a:pPr>
            <a:r>
              <a:t>Даёт команде и заказчику уверенность в качестве.</a:t>
            </a:r>
          </a:p>
          <a:p>
            <a:pPr>
              <a:spcAft>
                <a:spcPts val="800"/>
              </a:spcAft>
              <a:defRPr sz="2000"/>
            </a:pPr>
            <a:r>
              <a:t>Важно: тестирование не доказывает полное отсутствие ошибок — оно может показать их наличие.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Стоимость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На поздних стадиях исправление дефектов обходится дороже.</a:t>
            </a:r>
          </a:p>
          <a:p>
            <a:pPr>
              <a:spcAft>
                <a:spcPts val="800"/>
              </a:spcAft>
              <a:defRPr sz="2000"/>
            </a:pPr>
            <a:r>
              <a:t>Тестирование — инвестиция в снижение будущих затрат.</a:t>
            </a:r>
          </a:p>
          <a:p>
            <a:pPr>
              <a:spcAft>
                <a:spcPts val="800"/>
              </a:spcAft>
              <a:defRPr sz="2000"/>
            </a:pPr>
            <a:r>
              <a:t>Чем раньше обнаружен дефект, тем меньше стоимость его исправления.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Пирамида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/>
            </a:pPr>
            <a:r>
              <a:t>UNIT — основание: много быстрых тестов</a:t>
            </a:r>
          </a:p>
          <a:p>
            <a:pPr>
              <a:spcAft>
                <a:spcPts val="800"/>
              </a:spcAft>
              <a:defRPr sz="2500"/>
            </a:pPr>
            <a:r>
              <a:t>INTEGRATION — середина: проверка взаимодействия компонентов</a:t>
            </a:r>
          </a:p>
          <a:p>
            <a:pPr>
              <a:spcAft>
                <a:spcPts val="800"/>
              </a:spcAft>
              <a:defRPr sz="2500"/>
            </a:pPr>
            <a:r>
              <a:t>E2E — вершина: мало, медленно, для критичных сценариев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023360" y="4983480"/>
            <a:ext cx="4114800" cy="59436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E2E</a:t>
            </a:r>
          </a:p>
        </p:txBody>
      </p:sp>
      <p:sp>
        <p:nvSpPr>
          <p:cNvPr id="5" name="Trapezoid 4"/>
          <p:cNvSpPr/>
          <p:nvPr/>
        </p:nvSpPr>
        <p:spPr>
          <a:xfrm>
            <a:off x="2926080" y="4160520"/>
            <a:ext cx="6309360" cy="640080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Integration</a:t>
            </a:r>
          </a:p>
        </p:txBody>
      </p:sp>
      <p:sp>
        <p:nvSpPr>
          <p:cNvPr id="6" name="Trapezoid 5"/>
          <p:cNvSpPr/>
          <p:nvPr/>
        </p:nvSpPr>
        <p:spPr>
          <a:xfrm>
            <a:off x="1737360" y="3246120"/>
            <a:ext cx="8686800" cy="685800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Unit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Unit-тесты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Тестируют отдельные функции, классы или модули.</a:t>
            </a:r>
          </a:p>
          <a:p>
            <a:pPr>
              <a:spcAft>
                <a:spcPts val="800"/>
              </a:spcAft>
              <a:defRPr sz="2000"/>
            </a:pPr>
            <a:r>
              <a:t>Работают в изоляции от других частей системы.</a:t>
            </a:r>
          </a:p>
          <a:p>
            <a:pPr>
              <a:spcAft>
                <a:spcPts val="800"/>
              </a:spcAft>
              <a:defRPr sz="2000"/>
            </a:pPr>
            <a:r>
              <a:t>Очень быстрые — обычно миллисекунды.</a:t>
            </a:r>
          </a:p>
          <a:p>
            <a:pPr>
              <a:spcAft>
                <a:spcPts val="800"/>
              </a:spcAft>
              <a:defRPr sz="2000"/>
            </a:pPr>
            <a:r>
              <a:t>Основная масса тестов в проекте.</a:t>
            </a:r>
          </a:p>
          <a:p>
            <a:pPr>
              <a:spcAft>
                <a:spcPts val="800"/>
              </a:spcAft>
              <a:defRPr sz="2000"/>
            </a:pPr>
            <a:r>
              <a:t>Пример: «Верно ли я вычисляю сумму заказа?»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Интеграционные и E2E-тесты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Integration: взаимодействие нескольких компонентов — приложение + БД, сервис + сервис.</a:t>
            </a:r>
          </a:p>
          <a:p>
            <a:pPr>
              <a:spcAft>
                <a:spcPts val="800"/>
              </a:spcAft>
              <a:defRPr sz="2000"/>
            </a:pPr>
            <a:r>
              <a:t>E2E: полный поток системы от начала до конца.</a:t>
            </a:r>
          </a:p>
          <a:p>
            <a:pPr>
              <a:spcAft>
                <a:spcPts val="800"/>
              </a:spcAft>
              <a:defRPr sz="2000"/>
            </a:pPr>
            <a:r>
              <a:t>Integration — секунды; E2E — минуты.</a:t>
            </a:r>
          </a:p>
          <a:p>
            <a:pPr>
              <a:spcAft>
                <a:spcPts val="800"/>
              </a:spcAft>
              <a:defRPr sz="2000"/>
            </a:pPr>
            <a:r>
              <a:t>E2E следует оставлять для наиболее критичных пользовательских сценариев.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AAA — шаблон хорошего unit-теста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/>
            </a:pPr>
            <a:r>
              <a:t>Arrange — подготовить данные и состояние.</a:t>
            </a:r>
          </a:p>
          <a:p>
            <a:pPr>
              <a:spcAft>
                <a:spcPts val="800"/>
              </a:spcAft>
              <a:defRPr sz="2500"/>
            </a:pPr>
            <a:r>
              <a:t>Act — вызвать тестируемый метод.</a:t>
            </a:r>
          </a:p>
          <a:p>
            <a:pPr>
              <a:spcAft>
                <a:spcPts val="800"/>
              </a:spcAft>
              <a:defRPr sz="2500"/>
            </a:pPr>
            <a:r>
              <a:t>Assert — проверить ожидаемый результат.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107899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urier New"/>
              </a:defRPr>
            </a:pPr>
            <a:r>
              <a:t>def test_basic_discount():</a:t>
            </a:r>
            <a:br/>
            <a:r>
              <a:t>    # Arrange</a:t>
            </a:r>
            <a:br/>
            <a:r>
              <a:t>    price = 100</a:t>
            </a:r>
            <a:br/>
            <a:r>
              <a:t>    discount = 10</a:t>
            </a:r>
            <a:br/>
            <a:br/>
            <a:r>
              <a:t>    # Act</a:t>
            </a:r>
            <a:br/>
            <a:r>
              <a:t>    result = calculate_discount(price, discount)</a:t>
            </a:r>
            <a:br/>
            <a:br/>
            <a:r>
              <a:t>    # Assert</a:t>
            </a:r>
            <a:br/>
            <a:r>
              <a:t>    assert result == 90.0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Виды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Функциональное — что система делает?</a:t>
            </a:r>
          </a:p>
          <a:p>
            <a:pPr>
              <a:spcAft>
                <a:spcPts val="800"/>
              </a:spcAft>
              <a:defRPr sz="1900"/>
            </a:pPr>
            <a:r>
              <a:t>Нефункциональное — как система это делает?</a:t>
            </a:r>
          </a:p>
          <a:p>
            <a:pPr>
              <a:spcAft>
                <a:spcPts val="800"/>
              </a:spcAft>
              <a:defRPr sz="1900"/>
            </a:pPr>
            <a:r>
              <a:t>Ручное — полезно для исследовательского тестирования и UX.</a:t>
            </a:r>
          </a:p>
          <a:p>
            <a:pPr>
              <a:spcAft>
                <a:spcPts val="800"/>
              </a:spcAft>
              <a:defRPr sz="1900"/>
            </a:pPr>
            <a:r>
              <a:t>Автоматизированное — особенно важно для регрессии и быстрой обратной связи.</a:t>
            </a:r>
          </a:p>
          <a:p>
            <a:pPr>
              <a:spcAft>
                <a:spcPts val="800"/>
              </a:spcAft>
              <a:defRPr sz="1900"/>
            </a:pPr>
            <a:r>
              <a:t>Smoke — «запускается ли вообще?»</a:t>
            </a:r>
          </a:p>
          <a:p>
            <a:pPr>
              <a:spcAft>
                <a:spcPts val="800"/>
              </a:spcAft>
              <a:defRPr sz="1900"/>
            </a:pPr>
            <a:r>
              <a:t>Regression — не сломали ли изменения существующий функционал?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TDD: разработка через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Сначала пишем тест на новую функциональность.</a:t>
            </a:r>
          </a:p>
          <a:p>
            <a:pPr>
              <a:spcAft>
                <a:spcPts val="800"/>
              </a:spcAft>
              <a:defRPr sz="2300"/>
            </a:pPr>
            <a:r>
              <a:t>Затем пишем минимальный код, чтобы тест прошёл.</a:t>
            </a:r>
          </a:p>
          <a:p>
            <a:pPr>
              <a:spcAft>
                <a:spcPts val="800"/>
              </a:spcAft>
              <a:defRPr sz="2300"/>
            </a:pPr>
            <a:r>
              <a:t>После этого улучшаем код, сохраняя проходящие тесты.</a:t>
            </a:r>
          </a:p>
          <a:p>
            <a:pPr>
              <a:spcAft>
                <a:spcPts val="800"/>
              </a:spcAft>
              <a:defRPr sz="2300"/>
            </a:pPr>
            <a:r>
              <a:t>Цикл: RED → GREEN → REFACTOR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89120"/>
            <a:ext cx="2468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389120"/>
            <a:ext cx="2468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389120"/>
            <a:ext cx="24688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REFACTOR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F.I.R.S.T.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Fast — быстрые</a:t>
            </a:r>
          </a:p>
          <a:p>
            <a:pPr>
              <a:spcAft>
                <a:spcPts val="800"/>
              </a:spcAft>
              <a:defRPr sz="2300"/>
            </a:pPr>
            <a:r>
              <a:t>Independent — независимые</a:t>
            </a:r>
          </a:p>
          <a:p>
            <a:pPr>
              <a:spcAft>
                <a:spcPts val="800"/>
              </a:spcAft>
              <a:defRPr sz="2300"/>
            </a:pPr>
            <a:r>
              <a:t>Repeatable — повторяемые</a:t>
            </a:r>
          </a:p>
          <a:p>
            <a:pPr>
              <a:spcAft>
                <a:spcPts val="800"/>
              </a:spcAft>
              <a:defRPr sz="2300"/>
            </a:pPr>
            <a:r>
              <a:t>Self-Validating — сами однозначно показывают результат</a:t>
            </a:r>
          </a:p>
          <a:p>
            <a:pPr>
              <a:spcAft>
                <a:spcPts val="800"/>
              </a:spcAft>
              <a:defRPr sz="2300"/>
            </a:pPr>
            <a:r>
              <a:t>Timely — написаны вовремя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Что может быть не так с E2E?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E2E-тесты обычно медленнее unit-тестов.</a:t>
            </a:r>
          </a:p>
          <a:p>
            <a:pPr>
              <a:spcAft>
                <a:spcPts val="800"/>
              </a:spcAft>
              <a:defRPr sz="2000"/>
            </a:pPr>
            <a:r>
              <a:t>Они зависят от большего числа внешних компонентов.</a:t>
            </a:r>
          </a:p>
          <a:p>
            <a:pPr>
              <a:spcAft>
                <a:spcPts val="800"/>
              </a:spcAft>
              <a:defRPr sz="2000"/>
            </a:pPr>
            <a:r>
              <a:t>Из-за этого повторяемость может быть ниже.</a:t>
            </a:r>
          </a:p>
          <a:p>
            <a:pPr>
              <a:spcAft>
                <a:spcPts val="800"/>
              </a:spcAft>
              <a:defRPr sz="2000"/>
            </a:pPr>
            <a:r>
              <a:t>Вопрос аудитории: какие принципы FIRST здесь нарушаются чаще всего?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1 — анализ покрытия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Исследуем calculate_discount.</a:t>
            </a:r>
          </a:p>
          <a:p>
            <a:pPr>
              <a:spcAft>
                <a:spcPts val="800"/>
              </a:spcAft>
              <a:defRPr sz="2000"/>
            </a:pPr>
            <a:r>
              <a:t>Найдём непокрытые сценарии.</a:t>
            </a:r>
          </a:p>
          <a:p>
            <a:pPr>
              <a:spcAft>
                <a:spcPts val="800"/>
              </a:spcAft>
              <a:defRPr sz="2000"/>
            </a:pPr>
            <a:r>
              <a:t>Напишем минимум 5 дополнительных тестов.</a:t>
            </a:r>
          </a:p>
          <a:p>
            <a:pPr>
              <a:spcAft>
                <a:spcPts val="800"/>
              </a:spcAft>
              <a:defRPr sz="2000"/>
            </a:pPr>
            <a:r>
              <a:t>Проверим границы, исключения и некорректные входные данные.</a:t>
            </a:r>
          </a:p>
          <a:p>
            <a:pPr>
              <a:spcAft>
                <a:spcPts val="800"/>
              </a:spcAft>
              <a:defRPr sz="2000"/>
            </a:pPr>
            <a:r>
              <a:t>Оценим FIRST.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1 — исходный 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89920" cy="4480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latin typeface="Courier New"/>
              </a:defRPr>
            </a:pPr>
            <a:r>
              <a:t>def calculate_discount(price, discount_percent, is_vip=False):</a:t>
            </a:r>
            <a:br/>
            <a:r>
              <a:t>    if price &lt; 0:</a:t>
            </a:r>
            <a:br/>
            <a:r>
              <a:t>        raise ValueError("Price cannot be negative")</a:t>
            </a:r>
            <a:br/>
            <a:r>
              <a:t>    if discount_percent &lt; 0 or discount_percent &gt; 100:</a:t>
            </a:r>
            <a:br/>
            <a:r>
              <a:t>        raise ValueError("Discount must be between 0 and 100")</a:t>
            </a:r>
            <a:br/>
            <a:r>
              <a:t>    discounted = price * (1 - discount_percent / 100)</a:t>
            </a:r>
            <a:br/>
            <a:r>
              <a:t>    if is_vip:</a:t>
            </a:r>
            <a:br/>
            <a:r>
              <a:t>        discounted = discounted * 0.95</a:t>
            </a:r>
            <a:br/>
            <a:r>
              <a:t>    return round(discounted, 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2 — TDD: validate_password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≥ 8 символов</a:t>
            </a:r>
          </a:p>
          <a:p>
            <a:pPr>
              <a:spcAft>
                <a:spcPts val="800"/>
              </a:spcAft>
              <a:defRPr sz="2000"/>
            </a:pPr>
            <a:r>
              <a:t>Есть заглавная буква</a:t>
            </a:r>
          </a:p>
          <a:p>
            <a:pPr>
              <a:spcAft>
                <a:spcPts val="800"/>
              </a:spcAft>
              <a:defRPr sz="2000"/>
            </a:pPr>
            <a:r>
              <a:t>Есть строчная буква</a:t>
            </a:r>
          </a:p>
          <a:p>
            <a:pPr>
              <a:spcAft>
                <a:spcPts val="800"/>
              </a:spcAft>
              <a:defRPr sz="2000"/>
            </a:pPr>
            <a:r>
              <a:t>Есть цифра</a:t>
            </a:r>
          </a:p>
          <a:p>
            <a:pPr>
              <a:spcAft>
                <a:spcPts val="800"/>
              </a:spcAft>
              <a:defRPr sz="2000"/>
            </a:pPr>
            <a:r>
              <a:t>Есть специальный символ: !@#$%^&amp;*</a:t>
            </a:r>
          </a:p>
          <a:p>
            <a:pPr>
              <a:spcAft>
                <a:spcPts val="800"/>
              </a:spcAft>
              <a:defRPr sz="2000"/>
            </a:pPr>
            <a:r>
              <a:t>Нет пробелов</a:t>
            </a:r>
          </a:p>
          <a:p>
            <a:pPr>
              <a:spcAft>
                <a:spcPts val="800"/>
              </a:spcAft>
              <a:defRPr sz="2000"/>
            </a:pPr>
            <a:r>
              <a:t>Минимум 8 тестов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TDD — начинаем с 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078992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latin typeface="Courier New"/>
              </a:defRPr>
            </a:pPr>
            <a:r>
              <a:t>def test_password_too_short():</a:t>
            </a:r>
            <a:br/>
            <a:r>
              <a:t>    assert validate_password("Ab1!") ==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Запустить тест — он должен упасть.</a:t>
            </a:r>
          </a:p>
          <a:p>
            <a:pPr>
              <a:spcAft>
                <a:spcPts val="800"/>
              </a:spcAft>
              <a:defRPr sz="1800"/>
            </a:pPr>
            <a:r>
              <a:t>2. Реализовать минимум кода для GREEN.</a:t>
            </a:r>
          </a:p>
          <a:p>
            <a:pPr>
              <a:spcAft>
                <a:spcPts val="800"/>
              </a:spcAft>
              <a:defRPr sz="1800"/>
            </a:pPr>
            <a:r>
              <a:t>3. Добавить следующий тест.</a:t>
            </a:r>
          </a:p>
          <a:p>
            <a:pPr>
              <a:spcAft>
                <a:spcPts val="800"/>
              </a:spcAft>
              <a:defRPr sz="1800"/>
            </a:pPr>
            <a:r>
              <a:t>4. После прохождения всех тестов — REFACTOR.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3 — AAA и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Для 2–3 тестов выделить Arrange / Act / Assert.</a:t>
            </a:r>
          </a:p>
          <a:p>
            <a:pPr>
              <a:spcAft>
                <a:spcPts val="800"/>
              </a:spcAft>
              <a:defRPr sz="2000"/>
            </a:pPr>
            <a:r>
              <a:t>Проверить Fast.</a:t>
            </a:r>
          </a:p>
          <a:p>
            <a:pPr>
              <a:spcAft>
                <a:spcPts val="800"/>
              </a:spcAft>
              <a:defRPr sz="2000"/>
            </a:pPr>
            <a:r>
              <a:t>Проверить Independent.</a:t>
            </a:r>
          </a:p>
          <a:p>
            <a:pPr>
              <a:spcAft>
                <a:spcPts val="800"/>
              </a:spcAft>
              <a:defRPr sz="2000"/>
            </a:pPr>
            <a:r>
              <a:t>Проверить Repeatable.</a:t>
            </a:r>
          </a:p>
          <a:p>
            <a:pPr>
              <a:spcAft>
                <a:spcPts val="800"/>
              </a:spcAft>
              <a:defRPr sz="2000"/>
            </a:pPr>
            <a:r>
              <a:t>Проверить Self-Validating.</a:t>
            </a:r>
          </a:p>
          <a:p>
            <a:pPr>
              <a:spcAft>
                <a:spcPts val="800"/>
              </a:spcAft>
              <a:defRPr sz="2000"/>
            </a:pPr>
            <a:r>
              <a:t>Обсудить Timely.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Измеряем покрытие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2194560"/>
            <a:ext cx="630936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latin typeface="Courier New"/>
              </a:defRPr>
            </a:pPr>
            <a:r>
              <a:t>pytest --cov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Запустить все тесты.</a:t>
            </a:r>
          </a:p>
          <a:p>
            <a:pPr>
              <a:spcAft>
                <a:spcPts val="800"/>
              </a:spcAft>
              <a:defRPr sz="2000"/>
            </a:pPr>
            <a:r>
              <a:t>Посмотреть отчёт о покрытии.</a:t>
            </a:r>
          </a:p>
          <a:p>
            <a:pPr>
              <a:spcAft>
                <a:spcPts val="800"/>
              </a:spcAft>
              <a:defRPr sz="2000"/>
            </a:pPr>
            <a:r>
              <a:t>Найти непокрытые ветви и строки.</a:t>
            </a:r>
          </a:p>
          <a:p>
            <a:pPr>
              <a:spcAft>
                <a:spcPts val="800"/>
              </a:spcAft>
              <a:defRPr sz="2000"/>
            </a:pPr>
            <a:r>
              <a:t>Добавить тесты там, где покрытие недостаточно.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Чем unit отличается от integration и E2E?</a:t>
            </a:r>
          </a:p>
          <a:p>
            <a:pPr>
              <a:spcAft>
                <a:spcPts val="800"/>
              </a:spcAft>
              <a:defRPr sz="1800"/>
            </a:pPr>
            <a:r>
              <a:t>Почему unit-тестов должно быть больше?</a:t>
            </a:r>
          </a:p>
          <a:p>
            <a:pPr>
              <a:spcAft>
                <a:spcPts val="800"/>
              </a:spcAft>
              <a:defRPr sz="1800"/>
            </a:pPr>
            <a:r>
              <a:t>Что означает AAA?</a:t>
            </a:r>
          </a:p>
          <a:p>
            <a:pPr>
              <a:spcAft>
                <a:spcPts val="800"/>
              </a:spcAft>
              <a:defRPr sz="1800"/>
            </a:pPr>
            <a:r>
              <a:t>Что означает RED → GREEN → REFACTOR?</a:t>
            </a:r>
          </a:p>
          <a:p>
            <a:pPr>
              <a:spcAft>
                <a:spcPts val="800"/>
              </a:spcAft>
              <a:defRPr sz="1800"/>
            </a:pPr>
            <a:r>
              <a:t>Чем функциональное тестирование отличается от нефункционального?</a:t>
            </a:r>
          </a:p>
          <a:p>
            <a:pPr>
              <a:spcAft>
                <a:spcPts val="800"/>
              </a:spcAft>
              <a:defRPr sz="1800"/>
            </a:pPr>
            <a:r>
              <a:t>Что такое smoke и regression testing?</a:t>
            </a:r>
          </a:p>
          <a:p>
            <a:pPr>
              <a:spcAft>
                <a:spcPts val="800"/>
              </a:spcAft>
              <a:defRPr sz="1800"/>
            </a:pPr>
            <a:r>
              <a:t>Расшифруйте F.I.R.S.T.</a:t>
            </a:r>
          </a:p>
          <a:p>
            <a:pPr>
              <a:spcAft>
                <a:spcPts val="800"/>
              </a:spcAft>
              <a:defRPr sz="1800"/>
            </a:pPr>
            <a:r>
              <a:t>Может ли тестирование доказать отсутствие всех ошибок?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Тестирование снижает риски и помогает находить дефекты раньше.</a:t>
            </a:r>
          </a:p>
          <a:p>
            <a:pPr>
              <a:spcAft>
                <a:spcPts val="800"/>
              </a:spcAft>
              <a:defRPr sz="2200"/>
            </a:pPr>
            <a:r>
              <a:t>Пирамида: много Unit → меньше Integration → немного E2E.</a:t>
            </a:r>
          </a:p>
          <a:p>
            <a:pPr>
              <a:spcAft>
                <a:spcPts val="800"/>
              </a:spcAft>
              <a:defRPr sz="2200"/>
            </a:pPr>
            <a:r>
              <a:t>TDD: Red → Green → Refactor.</a:t>
            </a:r>
          </a:p>
          <a:p>
            <a:pPr>
              <a:spcAft>
                <a:spcPts val="800"/>
              </a:spcAft>
              <a:defRPr sz="2200"/>
            </a:pPr>
            <a:r>
              <a:t>Хорошие тесты следуют F.I.R.S.T.</a:t>
            </a:r>
          </a:p>
          <a:p>
            <a:pPr>
              <a:spcAft>
                <a:spcPts val="800"/>
              </a:spcAft>
              <a:defRPr sz="2200"/>
            </a:pPr>
            <a:r>
              <a:t>Практика: покрытие, TDD, AAA, pytest --cov.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Следующая 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Работа в команде: Agile, Scrum, Kanban</a:t>
            </a:r>
          </a:p>
          <a:p>
            <a:pPr>
              <a:spcAft>
                <a:spcPts val="800"/>
              </a:spcAft>
              <a:defRPr sz="2400"/>
            </a:pPr>
            <a:r>
              <a:t>Самостоятельная работа: довести validate_password до полного покрытия требований.</a:t>
            </a:r>
          </a:p>
          <a:p>
            <a:pPr>
              <a:spcAft>
                <a:spcPts val="800"/>
              </a:spcAft>
              <a:defRPr sz="2400"/>
            </a:pPr>
            <a:r>
              <a:t>Подготовиться объяснить назначение каждого написанного теста.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