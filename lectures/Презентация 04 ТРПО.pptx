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67" r:id="rId7"/>
    <p:sldId id="268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7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F939B-D03E-D30C-A810-EEBDA7138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796D6E-ADE2-CD1C-C647-8F50E69FF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54BB7D-7194-4C9C-A117-D81E37A6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B689A0-1B10-B447-8DF5-B76FB086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72CFA4-E6B4-684D-9E2A-C1B96748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29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E55A4-6149-A983-0363-BFE7D04E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FAB9FE-B873-3E72-E18C-39A15712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C2870-7F6E-109B-8041-25E74D47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13C32C-236A-F54D-E292-41D0CA49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4F8EDF-1B27-7091-7D47-5775A543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3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FCB83-D2FC-83AB-039E-72B24847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E649E9-8EA1-1378-239D-EFC635AF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EE3025-46A2-5F31-ED73-E78860B3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806FFF-C6C0-5DE1-F22F-F4C6828D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8F3275-CFFB-FB65-9D5C-14A3FAF5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04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56727-548A-3309-C384-2C15A8C9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70AFF7-FE6C-8D72-91DE-19FECB3B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0A1665-FAD8-2AA9-4057-198007F3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9E6712-3ED8-DABB-C8FC-43C31B7A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20F49A-8F5E-A113-1FFC-C2501B61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6FB815-92B1-1F33-286B-8343A8E9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95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89510-A44E-03DE-C188-5FEEA96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29430F-EA7F-1C72-879C-4BBC4175B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6FDB1E-510D-4A5F-8A3F-9B1F5D08D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54DC8E5-52AA-7753-3566-A382C6CE5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779F90-47D7-2460-83A8-B62CAEB87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0C7755-3347-4D90-6EF8-2DD306C3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DDCA8A-A2AF-401A-C284-5EA347E3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01B781E-BB26-1167-2ACB-AD005A8F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30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3A3E7-F129-6CD9-9D39-C0C4BD52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DBD420-4980-6586-AF75-9993055C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A0E24F-43AF-7E00-5BDC-D271F6C8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ED13AB-62D2-A8C2-247B-6C99061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46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30C6C5-A9A9-A031-9835-3E445316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D157B3B-236F-59DB-B6BD-126655F8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8F42D4-D553-08AE-0D3F-1AE23CB3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1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2B731-F2CF-CED1-E595-603B6F46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6A1EE9-BB36-302B-9B21-7BC53E35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993FB8-D340-AA88-8A83-9F640F14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E24426-0AF0-F702-3E6F-EB5E7FD5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127403-AFF5-A1F1-C38B-EAE5767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D87016-7C3B-8820-5FFA-E1F41226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18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83BC2-5D8C-6DCC-9DB4-22045EA4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43429BF-C80C-6FB7-B257-57CBDC1FD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AF6F03-3F54-0FBC-2041-1417E6AF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7682CD-F275-E00C-9E86-EC98EA0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F279DD-417B-2C4B-28BA-0A5350BB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14FC7C-95BE-CB51-FA62-273D7A50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1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0BA6A-9AE9-7C7A-3926-887923A3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9E3E1A-29AD-799B-AF38-5D6203AD2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281B96-8B5E-3649-E736-48828CE4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B8976D-6341-2F02-209A-1BABFE62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6A6FD-5AF5-7F33-A734-7DD6D253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22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CB62C44-C171-CB5F-5F56-26B88D1D7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4AD2F9-ED0C-7417-1C1D-386663A0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8FE3A7-8B80-C7F0-DB9F-7B2D2E1B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74A1F5-D0C0-746C-9FDA-EAFD136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B8AE5F-419C-3412-B52D-B3C77E65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39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A8ACE-89FD-86A8-11E5-2DE20E72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73113E-A006-24C6-0730-C1738BF2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70BD6-0B00-7DFA-125A-629E83DD7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C25892-923C-BAE0-48E6-F7061E8AD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C92736-5165-6F55-7961-EA2F0F956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76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8A2FC49-0F3D-10F3-3C58-C150ADDDA79A}"/>
              </a:ext>
            </a:extLst>
          </p:cNvPr>
          <p:cNvSpPr>
            <a:spLocks noGrp="1"/>
          </p:cNvSpPr>
          <p:nvPr/>
        </p:nvSpPr>
        <p:spPr>
          <a:xfrm>
            <a:off x="767408" y="637906"/>
            <a:ext cx="10009112" cy="11521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 разработки программного обеспечения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F9474D-52CF-A0C1-82BD-88882A3B6B89}"/>
              </a:ext>
            </a:extLst>
          </p:cNvPr>
          <p:cNvSpPr/>
          <p:nvPr/>
        </p:nvSpPr>
        <p:spPr>
          <a:xfrm>
            <a:off x="2328709" y="5850762"/>
            <a:ext cx="7357848" cy="36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СРЕДНЕРУССКИЙ ИНСТИТУТ УПРАВЛЕНИЯ - РАНХиГС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D372B26-2A09-4EED-6486-A25A87BA09D9}"/>
              </a:ext>
            </a:extLst>
          </p:cNvPr>
          <p:cNvSpPr/>
          <p:nvPr/>
        </p:nvSpPr>
        <p:spPr>
          <a:xfrm>
            <a:off x="1991544" y="5073564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кафедры «Математики и информационных технологий», кандидат технических наук Абдалов Арсентий Владимирович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8FFEF4D-BCEA-CBA4-F2AB-011E6A9000B2}"/>
              </a:ext>
            </a:extLst>
          </p:cNvPr>
          <p:cNvSpPr txBox="1"/>
          <p:nvPr/>
        </p:nvSpPr>
        <p:spPr>
          <a:xfrm>
            <a:off x="0" y="2698876"/>
            <a:ext cx="121919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Практическое занятие №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трудоёмкости проекта методом планирования покера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18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81224-752A-DFD2-CFBE-6223E6F3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BA81-1097-457A-493F-2E5B52C3C659}"/>
              </a:ext>
            </a:extLst>
          </p:cNvPr>
          <p:cNvSpPr txBox="1"/>
          <p:nvPr/>
        </p:nvSpPr>
        <p:spPr>
          <a:xfrm>
            <a:off x="0" y="1065229"/>
            <a:ext cx="121920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1" dirty="0"/>
              <a:t>Цель занятия:</a:t>
            </a:r>
            <a:r>
              <a:rPr lang="ru-RU" sz="2800" dirty="0"/>
              <a:t> 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Освоить на практике технику оценки сложности задач методом Planning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Poker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основанным на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consensus-based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относительной оценке.</a:t>
            </a:r>
            <a:endParaRPr lang="en-US" sz="28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br>
              <a:rPr lang="ru-RU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sz="3200" b="1" dirty="0"/>
              <a:t>Формат:</a:t>
            </a:r>
            <a:r>
              <a:rPr lang="ru-RU" sz="3200" dirty="0"/>
              <a:t> Мини-лекция -&gt; Групповая игра -&gt; Обсуждение и рефлексия.</a:t>
            </a:r>
          </a:p>
        </p:txBody>
      </p:sp>
    </p:spTree>
    <p:extLst>
      <p:ext uri="{BB962C8B-B14F-4D97-AF65-F5344CB8AC3E}">
        <p14:creationId xmlns:p14="http://schemas.microsoft.com/office/powerpoint/2010/main" val="29949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7E35A-9FE6-BF18-E83B-21E665C07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57DEF5D-4E2A-C4FC-B1A0-F98C88B6BD87}"/>
              </a:ext>
            </a:extLst>
          </p:cNvPr>
          <p:cNvSpPr txBox="1"/>
          <p:nvPr/>
        </p:nvSpPr>
        <p:spPr>
          <a:xfrm>
            <a:off x="0" y="47134"/>
            <a:ext cx="12192000" cy="1740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Объяснение правил и принципов Planning </a:t>
            </a:r>
            <a:r>
              <a:rPr lang="ru-RU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Poker</a:t>
            </a:r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Что такое Story </a:t>
            </a:r>
            <a:r>
              <a:rPr lang="ru-RU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Points</a:t>
            </a:r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Условные единицы, отражающие совокупную сложность задачи: объем работы, неопределенность, риски.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Последовательность Фибоначчи: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Почему она используется? Потому что чем больше задача, тем выше неопределенность в ее оценке. Разрыв между числами отражает это.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855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B2993-3167-80BF-540B-3C2A66599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CF82EB-058A-904F-8454-C63774066EFD}"/>
              </a:ext>
            </a:extLst>
          </p:cNvPr>
          <p:cNvSpPr txBox="1"/>
          <p:nvPr/>
        </p:nvSpPr>
        <p:spPr>
          <a:xfrm>
            <a:off x="0" y="0"/>
            <a:ext cx="12192000" cy="4736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Правила игры:</a:t>
            </a:r>
            <a:endParaRPr lang="ru-RU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Модератор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(Product </a:t>
            </a:r>
            <a:r>
              <a:rPr lang="ru-RU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Owner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зачитывает историю и отвечает на вопросы.</a:t>
            </a: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Каждый </a:t>
            </a: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оценщик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(разработчик) скрыто записывает свою оценку на бумаге, отражающую его оценку сложности, и кладет ее оценкой вниз.</a:t>
            </a: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 команде все </a:t>
            </a: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одновременно открывают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листки.</a:t>
            </a: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Если оценки </a:t>
            </a: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сильно различаются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(например, 3 и 13), то участники с самой высокой и самой низкой оценкой </a:t>
            </a: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аргументируют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свою позицию.</a:t>
            </a: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После обсуждения проводится </a:t>
            </a: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новый раунд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оценки.</a:t>
            </a: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Процесс повторяется до достижения </a:t>
            </a: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консенсуса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или близких значений.</a:t>
            </a:r>
          </a:p>
          <a:p>
            <a:pPr>
              <a:buNone/>
            </a:pP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Роли на время занятия: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Преподаватель будет модератором. Студенты — разработчики.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854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90B70-F071-C27D-2F51-850BD6CA0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F3EC2E-849D-552E-7EC3-1B44F18F0822}"/>
              </a:ext>
            </a:extLst>
          </p:cNvPr>
          <p:cNvSpPr txBox="1"/>
          <p:nvPr/>
        </p:nvSpPr>
        <p:spPr>
          <a:xfrm>
            <a:off x="0" y="0"/>
            <a:ext cx="1219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Групповая игра "Планирование Покер" (40 минут)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25-30 мин: Формирование команд и раздача материалов.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Студенты делятся на группы по 4-5 человек.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Каждая группа список из 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пользовательских историй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для проекта "Фитнес-трекер".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D1DD53-983E-9ACA-EAF2-C01868C878A5}"/>
              </a:ext>
            </a:extLst>
          </p:cNvPr>
          <p:cNvSpPr txBox="1"/>
          <p:nvPr/>
        </p:nvSpPr>
        <p:spPr>
          <a:xfrm>
            <a:off x="0" y="2246769"/>
            <a:ext cx="12192000" cy="3135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Проведение оценки в группах.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каждой группе выбирается доброволец на роль 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модератора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(зачитывает истории, отвечает на вопросы).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Остальные — 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оценщики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Задача групп: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Оценить все истории в своем списке. Результаты по каждой истории (итоговое консенсусное значение) заносить в таблицу.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375513-641E-4FAD-56AF-ED6F4533C596}"/>
              </a:ext>
            </a:extLst>
          </p:cNvPr>
          <p:cNvSpPr txBox="1"/>
          <p:nvPr/>
        </p:nvSpPr>
        <p:spPr>
          <a:xfrm>
            <a:off x="0" y="5505797"/>
            <a:ext cx="12192000" cy="108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Подготовка к презентации результатов.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Группы готовятся озвучить свои итоговые оценки для каждой истории.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773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A74F9-D5EF-3EDC-95E9-B340754C3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C4F754-D279-1D5E-79FD-E882C7DD0249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результатов и подведение итогов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5933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5DBE7-A366-9F81-F53A-7BB82A52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81028F-1000-0B1D-B377-13CAD3342450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Резюме от преподавателя и ДЗ.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7CCC-2B44-6316-31CF-701FE1FC5E20}"/>
              </a:ext>
            </a:extLst>
          </p:cNvPr>
          <p:cNvSpPr txBox="1"/>
          <p:nvPr/>
        </p:nvSpPr>
        <p:spPr>
          <a:xfrm>
            <a:off x="0" y="2659698"/>
            <a:ext cx="1219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Домашнее задание: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Для вашего учебного проекта составить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бэклог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из 5 пользовательских историй и провести их оценку в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story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points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используя метод Planning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Poker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(можно мысленно или с привлечением друзей). Результаты оформить в виде таблицы.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633823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371</Words>
  <Application>Microsoft Office PowerPoint</Application>
  <PresentationFormat>Широкоэкранный</PresentationFormat>
  <Paragraphs>30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Арсентий Абдалов</dc:creator>
  <cp:lastModifiedBy>Арсентий Абдалов</cp:lastModifiedBy>
  <cp:revision>6</cp:revision>
  <dcterms:created xsi:type="dcterms:W3CDTF">2025-09-19T18:20:34Z</dcterms:created>
  <dcterms:modified xsi:type="dcterms:W3CDTF">2025-10-03T13:23:13Z</dcterms:modified>
</cp:coreProperties>
</file>