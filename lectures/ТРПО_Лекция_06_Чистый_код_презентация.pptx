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Лекция №6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Конструирование ПО • Принципы чистого кода (Clean 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80 минут</a:t>
            </a:r>
          </a:p>
          <a:p>
            <a:pPr>
              <a:spcAft>
                <a:spcPts val="800"/>
              </a:spcAft>
              <a:defRPr sz="2400"/>
            </a:pPr>
            <a:r>
              <a:t>Чистый код — это не прихоть, а экономическая необходимость.</a:t>
            </a:r>
          </a:p>
          <a:p>
            <a:pPr>
              <a:spcAft>
                <a:spcPts val="800"/>
              </a:spcAft>
              <a:defRPr sz="2400"/>
            </a:pPr>
            <a:r>
              <a:t>Код пишется не только для компьютера, но и для людей.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Связь с предыдущей лекцией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Мы обсуждали управление проектом на макроуровне: планы, графики, риски.</a:t>
            </a:r>
          </a:p>
          <a:p>
            <a:pPr>
              <a:spcAft>
                <a:spcPts val="800"/>
              </a:spcAft>
              <a:defRPr sz="2200"/>
            </a:pPr>
            <a:r>
              <a:t>Теперь спускаемся на уровень кода — туда, где планы реализуются или рушатся.</a:t>
            </a:r>
          </a:p>
          <a:p>
            <a:pPr>
              <a:spcAft>
                <a:spcPts val="800"/>
              </a:spcAft>
              <a:defRPr sz="2200"/>
            </a:pPr>
            <a:r>
              <a:t>Плохой код может похоронить даже хороший проект.</a:t>
            </a:r>
          </a:p>
          <a:p>
            <a:pPr>
              <a:spcAft>
                <a:spcPts val="800"/>
              </a:spcAft>
              <a:defRPr sz="2200"/>
            </a:pPr>
            <a:r>
              <a:t>Чистый код читаем, понятен, проще тестируется и поддерживается.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Конструирование ≠ просто кодирование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Кодирование — написание инструкций для компьютера.</a:t>
            </a:r>
          </a:p>
          <a:p>
            <a:pPr>
              <a:spcAft>
                <a:spcPts val="800"/>
              </a:spcAft>
              <a:defRPr sz="1900"/>
            </a:pPr>
            <a:r>
              <a:t>Конструирование ПО включает:</a:t>
            </a:r>
          </a:p>
          <a:p>
            <a:pPr lvl="1">
              <a:spcAft>
                <a:spcPts val="800"/>
              </a:spcAft>
              <a:defRPr sz="1700"/>
            </a:pPr>
            <a:r>
              <a:t>планирование и проектирование низкоуровневых компонентов</a:t>
            </a:r>
          </a:p>
          <a:p>
            <a:pPr lvl="1">
              <a:spcAft>
                <a:spcPts val="800"/>
              </a:spcAft>
              <a:defRPr sz="1700"/>
            </a:pPr>
            <a:r>
              <a:t>написание кода</a:t>
            </a:r>
          </a:p>
          <a:p>
            <a:pPr lvl="1">
              <a:spcAft>
                <a:spcPts val="800"/>
              </a:spcAft>
              <a:defRPr sz="1700"/>
            </a:pPr>
            <a:r>
              <a:t>unit-тесты и отладку</a:t>
            </a:r>
          </a:p>
          <a:p>
            <a:pPr lvl="1">
              <a:spcAft>
                <a:spcPts val="800"/>
              </a:spcAft>
              <a:defRPr sz="1700"/>
            </a:pPr>
            <a:r>
              <a:t>рефакторинг</a:t>
            </a:r>
          </a:p>
          <a:p>
            <a:pPr lvl="1">
              <a:spcAft>
                <a:spcPts val="800"/>
              </a:spcAft>
              <a:defRPr sz="1700"/>
            </a:pPr>
            <a:r>
              <a:t>интеграцию с другими частями системы</a:t>
            </a:r>
          </a:p>
          <a:p>
            <a:pPr>
              <a:spcAft>
                <a:spcPts val="800"/>
              </a:spcAft>
              <a:defRPr sz="1900"/>
            </a:pPr>
            <a:r>
              <a:t>Конструирование — значительно более широкое понятие.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Имена: хорошее имя — лучшая документация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Имя должно объяснять: зачем объект существует, что делает и как используется.</a:t>
            </a:r>
          </a:p>
          <a:p>
            <a:pPr>
              <a:spcAft>
                <a:spcPts val="800"/>
              </a:spcAft>
              <a:defRPr sz="1800"/>
            </a:pPr>
            <a:r>
              <a:t>Выразительные имена: elapsedTimeInDays вместо d.</a:t>
            </a:r>
          </a:p>
          <a:p>
            <a:pPr>
              <a:spcAft>
                <a:spcPts val="800"/>
              </a:spcAft>
              <a:defRPr sz="1800"/>
            </a:pPr>
            <a:r>
              <a:t>Избегайте дезинформации: accountGroup/accounts вместо accountList, если это не List.</a:t>
            </a:r>
          </a:p>
          <a:p>
            <a:pPr>
              <a:spcAft>
                <a:spcPts val="800"/>
              </a:spcAft>
              <a:defRPr sz="1800"/>
            </a:pPr>
            <a:r>
              <a:t>Осмысленные различия: Product и ProductInfo должны реально отличаться.</a:t>
            </a:r>
          </a:p>
          <a:p>
            <a:pPr>
              <a:spcAft>
                <a:spcPts val="800"/>
              </a:spcAft>
              <a:defRPr sz="1800"/>
            </a:pPr>
            <a:r>
              <a:t>Имена должны быть произносимыми и удобными для поиска.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Имена: плохой и хороший пример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89920" cy="2926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latin typeface="Courier New"/>
              </a:defRPr>
            </a:pPr>
            <a:r>
              <a:t># Плохо</a:t>
            </a:r>
            <a:br/>
            <a:r>
              <a:t>int d;</a:t>
            </a:r>
            <a:br/>
            <a:r>
              <a:t>String genymdhms;</a:t>
            </a:r>
            <a:br/>
            <a:br/>
            <a:r>
              <a:t># Лучше</a:t>
            </a:r>
            <a:br/>
            <a:r>
              <a:t>int elapsedTimeInDays;</a:t>
            </a:r>
            <a:br/>
            <a:r>
              <a:t>String generationTimestamp;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Если имя трудно произнести или понять, оно увеличивает стоимость сопровождения.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Функции: маленькие и одноцелевые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Правило: функции должны быть маленькими.</a:t>
            </a:r>
          </a:p>
          <a:p>
            <a:pPr>
              <a:spcAft>
                <a:spcPts val="800"/>
              </a:spcAft>
              <a:defRPr sz="1800"/>
            </a:pPr>
            <a:r>
              <a:t>В исходном материале: 20 строк — уже много; 2–4 строки — идеал.</a:t>
            </a:r>
          </a:p>
          <a:p>
            <a:pPr>
              <a:spcAft>
                <a:spcPts val="800"/>
              </a:spcAft>
              <a:defRPr sz="1800"/>
            </a:pPr>
            <a:r>
              <a:t>Функция должна делать что-то одно.</a:t>
            </a:r>
          </a:p>
          <a:p>
            <a:pPr>
              <a:spcAft>
                <a:spcPts val="800"/>
              </a:spcAft>
              <a:defRPr sz="1800"/>
            </a:pPr>
            <a:r>
              <a:t>Стремитесь к нулю уровней отступа.</a:t>
            </a:r>
          </a:p>
          <a:p>
            <a:pPr>
              <a:spcAft>
                <a:spcPts val="800"/>
              </a:spcAft>
              <a:defRPr sz="1800"/>
            </a:pPr>
            <a:r>
              <a:t>Избегайте глубоко вложенных условий и циклов.</a:t>
            </a:r>
          </a:p>
          <a:p>
            <a:pPr>
              <a:spcAft>
                <a:spcPts val="800"/>
              </a:spcAft>
              <a:defRPr sz="1800"/>
            </a:pPr>
            <a:r>
              <a:t>Аргументы: 0 — идеально, 1 — хорошо, 2 — допустимо; 3 — избегать; больше 3 — только по особой причине.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Побочные эффекты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Функция не должна делать неожиданных вещей.</a:t>
            </a:r>
          </a:p>
          <a:p>
            <a:pPr>
              <a:spcAft>
                <a:spcPts val="800"/>
              </a:spcAft>
              <a:defRPr sz="2200"/>
            </a:pPr>
            <a:r>
              <a:t>Особенно опасны скрытые изменения глобального состояния.</a:t>
            </a:r>
          </a:p>
          <a:p>
            <a:pPr>
              <a:spcAft>
                <a:spcPts val="800"/>
              </a:spcAft>
              <a:defRPr sz="2200"/>
            </a:pPr>
            <a:r>
              <a:t>Поведение функции должно быть понятным из её назначения.</a:t>
            </a:r>
          </a:p>
          <a:p>
            <a:pPr>
              <a:spcAft>
                <a:spcPts val="800"/>
              </a:spcAft>
              <a:defRPr sz="2200"/>
            </a:pPr>
            <a:r>
              <a:t>Чем меньше неожиданных зависимостей — тем проще тестирование и сопровождение.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Комментарии: когда они полезны?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Хорошие комментарии:</a:t>
            </a:r>
          </a:p>
          <a:p>
            <a:pPr lvl="1">
              <a:spcAft>
                <a:spcPts val="800"/>
              </a:spcAft>
              <a:defRPr sz="1500"/>
            </a:pPr>
            <a:r>
              <a:t>законодательные аспекты</a:t>
            </a:r>
          </a:p>
          <a:p>
            <a:pPr lvl="1">
              <a:spcAft>
                <a:spcPts val="800"/>
              </a:spcAft>
              <a:defRPr sz="1500"/>
            </a:pPr>
            <a:r>
              <a:t>предупреждения о последствиях</a:t>
            </a:r>
          </a:p>
          <a:p>
            <a:pPr lvl="1">
              <a:spcAft>
                <a:spcPts val="800"/>
              </a:spcAft>
              <a:defRPr sz="1500"/>
            </a:pPr>
            <a:r>
              <a:t>пояснения к публичным API</a:t>
            </a:r>
          </a:p>
          <a:p>
            <a:pPr>
              <a:spcAft>
                <a:spcPts val="800"/>
              </a:spcAft>
              <a:defRPr sz="1700"/>
            </a:pPr>
            <a:r>
              <a:t>Плохие комментарии:</a:t>
            </a:r>
          </a:p>
          <a:p>
            <a:pPr lvl="1">
              <a:spcAft>
                <a:spcPts val="800"/>
              </a:spcAft>
              <a:defRPr sz="1500"/>
            </a:pPr>
            <a:r>
              <a:t>закомментированный код — его хранит система контроля версий</a:t>
            </a:r>
          </a:p>
          <a:p>
            <a:pPr lvl="1">
              <a:spcAft>
                <a:spcPts val="800"/>
              </a:spcAft>
              <a:defRPr sz="1500"/>
            </a:pPr>
            <a:r>
              <a:t>избыточные комментарии: i++; // increment i</a:t>
            </a:r>
          </a:p>
          <a:p>
            <a:pPr lvl="1">
              <a:spcAft>
                <a:spcPts val="800"/>
              </a:spcAft>
              <a:defRPr sz="1500"/>
            </a:pPr>
            <a:r>
              <a:t>комментарии, которые не соответствуют коду</a:t>
            </a:r>
          </a:p>
          <a:p>
            <a:pPr>
              <a:spcAft>
                <a:spcPts val="800"/>
              </a:spcAft>
              <a:defRPr sz="1700"/>
            </a:pPr>
            <a:r>
              <a:t>Принцип: если код плохой — сначала попробуйте переписать его.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Правило бойскаута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«Оставляйте код чище, чем вы его нашли».</a:t>
            </a:r>
          </a:p>
          <a:p>
            <a:pPr>
              <a:spcAft>
                <a:spcPts val="800"/>
              </a:spcAft>
              <a:defRPr sz="2100"/>
            </a:pPr>
            <a:r>
              <a:t>Не обязательно проводить глобальный рефакторинг.</a:t>
            </a:r>
          </a:p>
          <a:p>
            <a:pPr>
              <a:spcAft>
                <a:spcPts val="800"/>
              </a:spcAft>
              <a:defRPr sz="2100"/>
            </a:pPr>
            <a:r>
              <a:t>Увидели плохое имя — переименуйте.</a:t>
            </a:r>
          </a:p>
          <a:p>
            <a:pPr>
              <a:spcAft>
                <a:spcPts val="800"/>
              </a:spcAft>
              <a:defRPr sz="2100"/>
            </a:pPr>
            <a:r>
              <a:t>Увидели длинную функцию — попробуйте разделить.</a:t>
            </a:r>
          </a:p>
          <a:p>
            <a:pPr>
              <a:spcAft>
                <a:spcPts val="800"/>
              </a:spcAft>
              <a:defRPr sz="2100"/>
            </a:pPr>
            <a:r>
              <a:t>Маленькие постоянные улучшения помогают предотвращать деградацию кода.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Code Smells — запахи кода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Длинный список параметров метода.</a:t>
            </a:r>
          </a:p>
          <a:p>
            <a:pPr>
              <a:spcAft>
                <a:spcPts val="800"/>
              </a:spcAft>
              <a:defRPr sz="2200"/>
            </a:pPr>
            <a:r>
              <a:t>Дублирование кода (Copy-Paste Programming).</a:t>
            </a:r>
          </a:p>
          <a:p>
            <a:pPr>
              <a:spcAft>
                <a:spcPts val="800"/>
              </a:spcAft>
              <a:defRPr sz="2200"/>
            </a:pPr>
            <a:r>
              <a:t>Длинный метод.</a:t>
            </a:r>
          </a:p>
          <a:p>
            <a:pPr>
              <a:spcAft>
                <a:spcPts val="800"/>
              </a:spcAft>
              <a:defRPr sz="2200"/>
            </a:pPr>
            <a:r>
              <a:t>Большой класс (God Class).</a:t>
            </a:r>
          </a:p>
          <a:p>
            <a:pPr>
              <a:spcAft>
                <a:spcPts val="800"/>
              </a:spcAft>
              <a:defRPr sz="2200"/>
            </a:pPr>
            <a:r>
              <a:t>Циклические зависимости.</a:t>
            </a:r>
          </a:p>
          <a:p>
            <a:pPr>
              <a:spcAft>
                <a:spcPts val="800"/>
              </a:spcAft>
              <a:defRPr sz="2200"/>
            </a:pPr>
            <a:r>
              <a:t>Волшебные числа (magic numbers).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Magic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789920" cy="2468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>
                <a:latin typeface="Courier New"/>
              </a:defRPr>
            </a:pPr>
            <a:r>
              <a:t># Плохо</a:t>
            </a:r>
            <a:br/>
            <a:r>
              <a:t>if status == 3:</a:t>
            </a:r>
            <a:br/>
            <a:r>
              <a:t>    ...</a:t>
            </a:r>
            <a:br/>
            <a:br/>
            <a:r>
              <a:t># Лучше</a:t>
            </a:r>
            <a:br/>
            <a:r>
              <a:t>if status == ORDER_STATUS_SHIPPED:</a:t>
            </a:r>
            <a:br/>
            <a:r>
              <a:t>   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63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Именованная константа сообщает смысл значения и облегчает изменение кода.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Рефакторинг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Рефакторинг — контролируемое улучшение дизайна существующего кода без изменения его внешнего поведения.</a:t>
            </a:r>
          </a:p>
          <a:p>
            <a:pPr>
              <a:spcAft>
                <a:spcPts val="800"/>
              </a:spcAft>
              <a:defRPr sz="1800"/>
            </a:pPr>
            <a:r>
              <a:t>Цель: упростить код и сделать его понятнее и легче для модификации.</a:t>
            </a:r>
          </a:p>
          <a:p>
            <a:pPr>
              <a:spcAft>
                <a:spcPts val="800"/>
              </a:spcAft>
              <a:defRPr sz="1800"/>
            </a:pPr>
            <a:r>
              <a:t>Базовые приёмы:</a:t>
            </a:r>
          </a:p>
          <a:p>
            <a:pPr lvl="1">
              <a:spcAft>
                <a:spcPts val="800"/>
              </a:spcAft>
              <a:defRPr sz="1600"/>
            </a:pPr>
            <a:r>
              <a:t>Extract Method — выделение фрагмента в отдельный метод</a:t>
            </a:r>
          </a:p>
          <a:p>
            <a:pPr lvl="1">
              <a:spcAft>
                <a:spcPts val="800"/>
              </a:spcAft>
              <a:defRPr sz="1600"/>
            </a:pPr>
            <a:r>
              <a:t>Rename — понятное имя</a:t>
            </a:r>
          </a:p>
          <a:p>
            <a:pPr lvl="1">
              <a:spcAft>
                <a:spcPts val="800"/>
              </a:spcAft>
              <a:defRPr sz="1600"/>
            </a:pPr>
            <a:r>
              <a:t>Extract Constant — замена magic number именованной константой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Стандарты и инструменты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Code Style Guides обеспечивают единообразие в команде.</a:t>
            </a:r>
          </a:p>
          <a:p>
            <a:pPr>
              <a:spcAft>
                <a:spcPts val="800"/>
              </a:spcAft>
              <a:defRPr sz="2000"/>
            </a:pPr>
            <a:r>
              <a:t>Единообразие снижает cognitive load при переключении между задачами.</a:t>
            </a:r>
          </a:p>
          <a:p>
            <a:pPr>
              <a:spcAft>
                <a:spcPts val="800"/>
              </a:spcAft>
              <a:defRPr sz="2000"/>
            </a:pPr>
            <a:r>
              <a:t>Примеры: PEP 8, Google Java Style Guide, стандарты Airbnb для JS.</a:t>
            </a:r>
          </a:p>
          <a:p>
            <a:pPr>
              <a:spcAft>
                <a:spcPts val="800"/>
              </a:spcAft>
              <a:defRPr sz="2000"/>
            </a:pPr>
            <a:r>
              <a:t>Linters автоматически проверяют код.</a:t>
            </a:r>
          </a:p>
          <a:p>
            <a:pPr>
              <a:spcAft>
                <a:spcPts val="800"/>
              </a:spcAft>
              <a:defRPr sz="2000"/>
            </a:pPr>
            <a:r>
              <a:t>Примеры: ESLint, Pylint, Checkstyle.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Культура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Парное программирование — совместная работа двух разработчиков.</a:t>
            </a:r>
          </a:p>
          <a:p>
            <a:pPr>
              <a:spcAft>
                <a:spcPts val="800"/>
              </a:spcAft>
              <a:defRPr sz="2000"/>
            </a:pPr>
            <a:r>
              <a:t>Code Review — систематическая проверка изменений коллегами до попадания в основную ветку.</a:t>
            </a:r>
          </a:p>
          <a:p>
            <a:pPr>
              <a:spcAft>
                <a:spcPts val="800"/>
              </a:spcAft>
              <a:defRPr sz="2000"/>
            </a:pPr>
            <a:r>
              <a:t>Цель code review — не критика, а поиск лучшего решения и обмен знаниями.</a:t>
            </a:r>
          </a:p>
          <a:p>
            <a:pPr>
              <a:spcAft>
                <a:spcPts val="800"/>
              </a:spcAft>
              <a:defRPr sz="2000"/>
            </a:pPr>
            <a:r>
              <a:t>CI — автоматическая сборка и прогон тестов для каждого изменения.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1 — ищем Code Smells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Задача: проанализировать функцию calc.</a:t>
            </a:r>
          </a:p>
          <a:p>
            <a:pPr>
              <a:spcAft>
                <a:spcPts val="800"/>
              </a:spcAft>
              <a:defRPr sz="2100"/>
            </a:pPr>
            <a:r>
              <a:t>Найти все запахи кода.</a:t>
            </a:r>
          </a:p>
          <a:p>
            <a:pPr>
              <a:spcAft>
                <a:spcPts val="800"/>
              </a:spcAft>
              <a:defRPr sz="2100"/>
            </a:pPr>
            <a:r>
              <a:t>Объяснить, что делает функция.</a:t>
            </a:r>
          </a:p>
          <a:p>
            <a:pPr>
              <a:spcAft>
                <a:spcPts val="800"/>
              </a:spcAft>
              <a:defRPr sz="2100"/>
            </a:pPr>
            <a:r>
              <a:t>Предложить улучшения.</a:t>
            </a:r>
          </a:p>
          <a:p>
            <a:pPr>
              <a:spcAft>
                <a:spcPts val="800"/>
              </a:spcAft>
              <a:defRPr sz="2100"/>
            </a:pPr>
            <a:r>
              <a:t>Затем провести рефакторинг.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10789920" cy="2103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latin typeface="Courier New"/>
              </a:defRPr>
            </a:pPr>
            <a:r>
              <a:t>def calc(d):</a:t>
            </a:r>
            <a:br/>
            <a:r>
              <a:t>    t = 0</a:t>
            </a:r>
            <a:br/>
            <a:r>
              <a:t>    for i in d:</a:t>
            </a:r>
            <a:br/>
            <a:r>
              <a:t>        t += i['pr'] * i['qt']</a:t>
            </a:r>
            <a:br/>
            <a:r>
              <a:t>    if t &gt; 1000:</a:t>
            </a:r>
            <a:br/>
            <a:r>
              <a:t>        t = t * 0.9</a:t>
            </a:r>
            <a:br/>
            <a:r>
              <a:t>    return t + (t * 0.2) + 150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1 — ожидаемые наблюдения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Неинформативные имена: d, t, i, pr, qt.</a:t>
            </a:r>
          </a:p>
          <a:p>
            <a:pPr>
              <a:spcAft>
                <a:spcPts val="800"/>
              </a:spcAft>
              <a:defRPr sz="1900"/>
            </a:pPr>
            <a:r>
              <a:t>Magic numbers: 1000, 0.9, 0.2, 150.</a:t>
            </a:r>
          </a:p>
          <a:p>
            <a:pPr>
              <a:spcAft>
                <a:spcPts val="800"/>
              </a:spcAft>
              <a:defRPr sz="1900"/>
            </a:pPr>
            <a:r>
              <a:t>Одна функция выполняет несколько задач: сумма, скидка, НДС, доставка.</a:t>
            </a:r>
          </a:p>
          <a:p>
            <a:pPr>
              <a:spcAft>
                <a:spcPts val="800"/>
              </a:spcAft>
              <a:defRPr sz="1900"/>
            </a:pPr>
            <a:r>
              <a:t>Нет документации.</a:t>
            </a:r>
          </a:p>
          <a:p>
            <a:pPr>
              <a:spcAft>
                <a:spcPts val="800"/>
              </a:spcAft>
              <a:defRPr sz="1900"/>
            </a:pPr>
            <a:r>
              <a:t>Предложение: разделить на несколько функций и вынести константы.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2 — вложенные условия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Найдите и исправьте запахи кода.</a:t>
            </a:r>
          </a:p>
          <a:p>
            <a:pPr>
              <a:spcAft>
                <a:spcPts val="800"/>
              </a:spcAft>
              <a:defRPr sz="2000"/>
            </a:pPr>
            <a:r>
              <a:t>Обратите внимание на глубокую вложенность.</a:t>
            </a:r>
          </a:p>
          <a:p>
            <a:pPr>
              <a:spcAft>
                <a:spcPts val="800"/>
              </a:spcAft>
              <a:defRPr sz="2000"/>
            </a:pPr>
            <a:r>
              <a:t>Проверьте понятность имён и бизнес-логики.</a:t>
            </a:r>
          </a:p>
          <a:p>
            <a:pPr>
              <a:spcAft>
                <a:spcPts val="800"/>
              </a:spcAft>
              <a:defRPr sz="2000"/>
            </a:pPr>
            <a:r>
              <a:t>Подумайте, как уменьшить количество уровней if/else.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19103"/>
            <a:ext cx="10789920" cy="2926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latin typeface="Courier New"/>
              </a:defRPr>
            </a:pPr>
            <a:r>
              <a:t>def process(user, action):</a:t>
            </a:r>
            <a:br/>
            <a:r>
              <a:t>    if action == 'login':</a:t>
            </a:r>
            <a:br/>
            <a:r>
              <a:t>        if user is not None:</a:t>
            </a:r>
            <a:br/>
            <a:r>
              <a:t>            if user.is_active:</a:t>
            </a:r>
            <a:br/>
            <a:r>
              <a:t>                if user.password == '12345':</a:t>
            </a:r>
            <a:br/>
            <a:r>
              <a:t>                    return True</a:t>
            </a:r>
            <a:br/>
            <a:r>
              <a:t>                else:</a:t>
            </a:r>
            <a:br/>
            <a:r>
              <a:t>                    return False</a:t>
            </a:r>
            <a:br/>
            <a:r>
              <a:t>            else:</a:t>
            </a:r>
            <a:br/>
            <a:r>
              <a:t>                return False</a:t>
            </a:r>
            <a:br/>
            <a:r>
              <a:t>        else:</a:t>
            </a:r>
            <a:br/>
            <a:r>
              <a:t>            return False</a:t>
            </a:r>
            <a:br/>
            <a:r>
              <a:t>    elif action == 'logout':</a:t>
            </a:r>
            <a:br/>
            <a:r>
              <a:t>        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Практика 3 — God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Определите, какие принципы чистого кода нарушены.</a:t>
            </a:r>
          </a:p>
          <a:p>
            <a:pPr>
              <a:spcAft>
                <a:spcPts val="800"/>
              </a:spcAft>
              <a:defRPr sz="2100"/>
            </a:pPr>
            <a:r>
              <a:t>Найдите ответственности, которые следует разделить.</a:t>
            </a:r>
          </a:p>
          <a:p>
            <a:pPr>
              <a:spcAft>
                <a:spcPts val="800"/>
              </a:spcAft>
              <a:defRPr sz="2100"/>
            </a:pPr>
            <a:r>
              <a:t>Предложите структуру нескольких специализированных классов.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789920" cy="3017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latin typeface="Courier New"/>
              </a:defRPr>
            </a:pPr>
            <a:r>
              <a:t>class GodClass:</a:t>
            </a:r>
            <a:br/>
            <a:r>
              <a:t>    def __init__(self):</a:t>
            </a:r>
            <a:br/>
            <a:r>
              <a:t>        self.data = []</a:t>
            </a:r>
            <a:br/>
            <a:r>
              <a:t>        self.connection = None</a:t>
            </a:r>
            <a:br/>
            <a:r>
              <a:t>        self.logger = None</a:t>
            </a:r>
            <a:br/>
            <a:br/>
            <a:r>
              <a:t>    def connect_to_database(self): ...</a:t>
            </a:r>
            <a:br/>
            <a:r>
              <a:t>    def save_user(self, user): ...</a:t>
            </a:r>
            <a:br/>
            <a:r>
              <a:t>    def send_email(self, email, message): ...</a:t>
            </a:r>
            <a:br/>
            <a:r>
              <a:t>    def generate_report(self): ...</a:t>
            </a:r>
            <a:br/>
            <a:r>
              <a:t>    def calculate_salary(self, employee): ...</a:t>
            </a:r>
            <a:br/>
            <a:r>
              <a:t>    def render_html(self): ...</a:t>
            </a:r>
            <a:br/>
            <a:r>
              <a:t>    def process_payment(self, amount):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Критерии успеха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Студент может объяснить разницу между обычным и чистым кодом.</a:t>
            </a:r>
          </a:p>
          <a:p>
            <a:pPr>
              <a:spcAft>
                <a:spcPts val="800"/>
              </a:spcAft>
              <a:defRPr sz="2100"/>
            </a:pPr>
            <a:r>
              <a:t>Называет 2–3 принципа именования.</a:t>
            </a:r>
          </a:p>
          <a:p>
            <a:pPr>
              <a:spcAft>
                <a:spcPts val="800"/>
              </a:spcAft>
              <a:defRPr sz="2100"/>
            </a:pPr>
            <a:r>
              <a:t>Понимает, что такое Code Smell, и приводит примеры.</a:t>
            </a:r>
          </a:p>
          <a:p>
            <a:pPr>
              <a:spcAft>
                <a:spcPts val="800"/>
              </a:spcAft>
              <a:defRPr sz="2100"/>
            </a:pPr>
            <a:r>
              <a:t>Понимает экономические причины важности чистого кода.</a:t>
            </a:r>
          </a:p>
          <a:p>
            <a:pPr>
              <a:spcAft>
                <a:spcPts val="800"/>
              </a:spcAft>
              <a:defRPr sz="2100"/>
            </a:pPr>
            <a:r>
              <a:t>Умеет предложить базовый рефакторинг.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Чистый код читаем, прост в поддержке и тестировании.</a:t>
            </a:r>
          </a:p>
          <a:p>
            <a:pPr>
              <a:spcAft>
                <a:spcPts val="800"/>
              </a:spcAft>
              <a:defRPr sz="1900"/>
            </a:pPr>
            <a:r>
              <a:t>Осмысленные имена важнее лишних комментариев.</a:t>
            </a:r>
          </a:p>
          <a:p>
            <a:pPr>
              <a:spcAft>
                <a:spcPts val="800"/>
              </a:spcAft>
              <a:defRPr sz="1900"/>
            </a:pPr>
            <a:r>
              <a:t>Функции должны быть маленькими и одноцелевыми.</a:t>
            </a:r>
          </a:p>
          <a:p>
            <a:pPr>
              <a:spcAft>
                <a:spcPts val="800"/>
              </a:spcAft>
              <a:defRPr sz="1900"/>
            </a:pPr>
            <a:r>
              <a:t>Code Smells — сигналы проблем, а не повод для паники.</a:t>
            </a:r>
          </a:p>
          <a:p>
            <a:pPr>
              <a:spcAft>
                <a:spcPts val="800"/>
              </a:spcAft>
              <a:defRPr sz="1900"/>
            </a:pPr>
            <a:r>
              <a:t>Рефакторинг улучшает дизайн без изменения внешнего поведения.</a:t>
            </a:r>
          </a:p>
          <a:p>
            <a:pPr>
              <a:spcAft>
                <a:spcPts val="800"/>
              </a:spcAft>
              <a:defRPr sz="1900"/>
            </a:pPr>
            <a:r>
              <a:t>Стандарты, code review, pair programming и CI поддерживают культуру качества.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Связь со следующей лекцией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Мы научились писать код, который проще читать, тестировать и поддерживать.</a:t>
            </a:r>
          </a:p>
          <a:p>
            <a:pPr>
              <a:spcAft>
                <a:spcPts val="800"/>
              </a:spcAft>
              <a:defRPr sz="2300"/>
            </a:pPr>
            <a:r>
              <a:t>Следующий вопрос: как убедиться, что он работает правильно и продолжает работать после изменений?</a:t>
            </a:r>
          </a:p>
          <a:p>
            <a:pPr>
              <a:spcAft>
                <a:spcPts val="800"/>
              </a:spcAft>
              <a:defRPr sz="2300"/>
            </a:pPr>
            <a:r>
              <a:t>Ответ — тестирование программного обеспечения.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1180</Words>
  <Application>Microsoft Office PowerPoint</Application>
  <PresentationFormat>Широкоэкранный</PresentationFormat>
  <Paragraphs>125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Арсентий Абдалов</cp:lastModifiedBy>
  <cp:revision>2</cp:revision>
  <dcterms:created xsi:type="dcterms:W3CDTF">2013-01-27T09:14:16Z</dcterms:created>
  <dcterms:modified xsi:type="dcterms:W3CDTF">2026-09-25T19:35:39Z</dcterms:modified>
  <cp:category/>
</cp:coreProperties>
</file>