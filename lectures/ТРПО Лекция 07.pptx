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92D4B"/>
                </a:solidFill>
                <a:latin typeface="Arial"/>
              </a:defRPr>
            </a:pPr>
            <a:r>
              <a:t>Тестирование</a:t>
            </a:r>
            <a:br/>
            <a:r>
              <a:t>программного обеспечения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A6FB4"/>
                </a:solidFill>
                <a:latin typeface="Arial"/>
              </a:defRPr>
            </a:pPr>
            <a:r>
              <a:t>Лекция №7 • цели, уровни, виды и практики тестирования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F6976"/>
                </a:solidFill>
                <a:latin typeface="Arial"/>
              </a:defRPr>
            </a:pPr>
            <a:r>
              <a:t>Тестирование ищет дефекты и повышает уверенность в качестве продукта.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Зачем нужно тестирование?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Полностью безошибочное сложное ПО практически невозможно создать.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Тестирование предоставляет информацию о качестве продукта.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Цель — обнаружить дефекты до production.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Раннее исправление дефектов дешевле.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Термины: ошибка, дефект, отказ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Ошибка — действие человека, приводящее к неправильному результату.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Дефект / баг — недостаток в компоненте или системе.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Отказ — фактический результат не соответствует ожидаемому.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Принципы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Тестирование показывает наличие дефектов, но не доказывает их отсутствие.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Исчерпывающее тестирование невозможно.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Тестирование следует начинать как можно раньше.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Парадокс пестицида: тесты нужно периодически обновлять.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Модульное тестирование (Unit)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Проверяется отдельная функция, класс или модуль.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Тесты обычно пишут разработчики.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Инструменты: JUnit, NUnit, pytest, Jest.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Для изоляции применяются Mock, Stub, Fake.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Интеграционное и системное 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Интеграционные тесты проверяют взаимодействие компонентов.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Подходы: Bottom-Up, Top-Down, Big Bang.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Системные тесты проверяют систему целиком и соответствие SRS.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Окружение должно быть близко к production.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Функциональное и нефункциональное 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Функциональное: что делает система?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Нефункциональное: как система это делает?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Виды: нагрузочное, usability, security, reliability.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Ручное и автоматизированное 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Ручное удобно для исследования и usability-проверок.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Автоматизация ускоряет регрессионные проверки и CI/CD.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Автотесты требуют ресурсов на разработку и поддержку.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Тест-план, тест-кейс и баг-репорт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Тест-план описывает объём, подход, ресурсы и график.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Тест-кейс содержит условия, входные данные и ожидаемый результат.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Баг-репорт должен быть коротким, воспроизводимым и проверяемым.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Роли и ответственность за качество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QA Engineer проектирует и выполняет тесты.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SDET пишет код для автоматизации.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Качество — ответственность всей команды.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Пирамида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11</a:t>
            </a:r>
          </a:p>
        </p:txBody>
      </p:sp>
      <p:sp>
        <p:nvSpPr>
          <p:cNvPr id="5" name="Trapezoid 4"/>
          <p:cNvSpPr/>
          <p:nvPr/>
        </p:nvSpPr>
        <p:spPr>
          <a:xfrm>
            <a:off x="1828800" y="5029200"/>
            <a:ext cx="8503920" cy="640080"/>
          </a:xfrm>
          <a:prstGeom prst="trapezoid">
            <a:avLst/>
          </a:prstGeom>
          <a:solidFill>
            <a:srgbClr val="2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40" y="521208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Unit — много, быстро, дёшево</a:t>
            </a:r>
          </a:p>
        </p:txBody>
      </p:sp>
      <p:sp>
        <p:nvSpPr>
          <p:cNvPr id="7" name="Trapezoid 6"/>
          <p:cNvSpPr/>
          <p:nvPr/>
        </p:nvSpPr>
        <p:spPr>
          <a:xfrm>
            <a:off x="2880360" y="4114800"/>
            <a:ext cx="6400800" cy="640080"/>
          </a:xfrm>
          <a:prstGeom prst="trapezoid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429768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Integration — меньше, сложнее</a:t>
            </a:r>
          </a:p>
        </p:txBody>
      </p:sp>
      <p:sp>
        <p:nvSpPr>
          <p:cNvPr id="9" name="Trapezoid 8"/>
          <p:cNvSpPr/>
          <p:nvPr/>
        </p:nvSpPr>
        <p:spPr>
          <a:xfrm>
            <a:off x="4114800" y="3200400"/>
            <a:ext cx="3931920" cy="640080"/>
          </a:xfrm>
          <a:prstGeom prst="trapezoid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33832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E2E / UI — мало, медленно</a:t>
            </a:r>
          </a:p>
        </p:txBody>
      </p:sp>
      <p:sp>
        <p:nvSpPr>
          <p:cNvPr id="11" name="Trapezoid 10"/>
          <p:cNvSpPr/>
          <p:nvPr/>
        </p:nvSpPr>
        <p:spPr>
          <a:xfrm>
            <a:off x="4983480" y="2286000"/>
            <a:ext cx="2194560" cy="640080"/>
          </a:xfrm>
          <a:prstGeom prst="trapezoid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2468880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Ручные проверки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976"/>
                </a:solidFill>
                <a:latin typeface="Arial"/>
              </a:defRPr>
            </a:pPr>
            <a:r>
              <a:t>Пирамида минимизирует время обратной связи и стоимость поддержки тестов.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Задание 1. Определите уровень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6"/>
                </a:solidFill>
                <a:latin typeface="Arial"/>
              </a:defRPr>
            </a:pPr>
            <a:r>
              <a:t>Заполните последний столбец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58894" cy="713232"/>
          </a:xfrm>
          <a:prstGeom prst="rect">
            <a:avLst/>
          </a:prstGeom>
          <a:solidFill>
            <a:srgbClr val="192D4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46745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№</a:t>
            </a:r>
          </a:p>
        </p:txBody>
      </p:sp>
      <p:sp>
        <p:nvSpPr>
          <p:cNvPr id="8" name="Rectangle 7"/>
          <p:cNvSpPr/>
          <p:nvPr/>
        </p:nvSpPr>
        <p:spPr>
          <a:xfrm>
            <a:off x="1198974" y="1371600"/>
            <a:ext cx="5868397" cy="713232"/>
          </a:xfrm>
          <a:prstGeom prst="rect">
            <a:avLst/>
          </a:prstGeom>
          <a:solidFill>
            <a:srgbClr val="192D4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44694" y="1517904"/>
            <a:ext cx="577695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Проверка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67371" y="1371600"/>
            <a:ext cx="3539668" cy="713232"/>
          </a:xfrm>
          <a:prstGeom prst="rect">
            <a:avLst/>
          </a:prstGeom>
          <a:solidFill>
            <a:srgbClr val="192D4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13091" y="1517904"/>
            <a:ext cx="34482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Уровень тестирования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84832"/>
            <a:ext cx="558894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1" y="2194560"/>
            <a:ext cx="41259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B3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98974" y="2084832"/>
            <a:ext cx="5868397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72126" y="2194560"/>
            <a:ext cx="572209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B36"/>
                </a:solidFill>
                <a:latin typeface="Arial"/>
              </a:defRPr>
            </a:pPr>
            <a:r>
              <a:t>Проверка функции add(a, b) возвращает правильную сумму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67371" y="2084832"/>
            <a:ext cx="3539668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40523" y="2194560"/>
            <a:ext cx="33933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798064"/>
            <a:ext cx="558894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1" y="2907792"/>
            <a:ext cx="41259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B3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98974" y="2798064"/>
            <a:ext cx="5868397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72126" y="2907792"/>
            <a:ext cx="572209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B36"/>
                </a:solidFill>
                <a:latin typeface="Arial"/>
              </a:defRPr>
            </a:pPr>
            <a:r>
              <a:t>Модуль авторизации корректно взаимодействует с базой данных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67371" y="2798064"/>
            <a:ext cx="3539668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40523" y="2907792"/>
            <a:ext cx="33933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511296"/>
            <a:ext cx="558894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1" y="3621024"/>
            <a:ext cx="41259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B3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98974" y="3511296"/>
            <a:ext cx="5868397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72126" y="3621024"/>
            <a:ext cx="572209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B36"/>
                </a:solidFill>
                <a:latin typeface="Arial"/>
              </a:defRPr>
            </a:pPr>
            <a:r>
              <a:t>Пользователь оформляет заказ от начала до конца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67371" y="3511296"/>
            <a:ext cx="3539668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40523" y="3621024"/>
            <a:ext cx="33933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224528"/>
            <a:ext cx="558894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1" y="4334256"/>
            <a:ext cx="41259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B3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98974" y="4224528"/>
            <a:ext cx="5868397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2126" y="4334256"/>
            <a:ext cx="572209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B36"/>
                </a:solidFill>
                <a:latin typeface="Arial"/>
              </a:defRPr>
            </a:pPr>
            <a:r>
              <a:t>При делении на ноль выбрасывается исключение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67371" y="4224528"/>
            <a:ext cx="3539668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40523" y="4334256"/>
            <a:ext cx="33933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4937760"/>
            <a:ext cx="558894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1" y="5047488"/>
            <a:ext cx="41259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B3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98974" y="4937760"/>
            <a:ext cx="5868397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72126" y="5047488"/>
            <a:ext cx="572209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B36"/>
                </a:solidFill>
                <a:latin typeface="Arial"/>
              </a:defRPr>
            </a:pPr>
            <a:r>
              <a:t>API и фронтенд корректно обмениваются данными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67371" y="4937760"/>
            <a:ext cx="3539668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40523" y="5047488"/>
            <a:ext cx="33933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Задание 2. Тест-кейсы для divide(a,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2B36"/>
                </a:solidFill>
                <a:latin typeface="Arial"/>
              </a:defRPr>
            </a:pPr>
            <a:r>
              <a:t>Требования: функция делит a на b; если b == 0, выбрасывается ValueError.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48640" cy="713232"/>
          </a:xfrm>
          <a:prstGeom prst="rect">
            <a:avLst/>
          </a:prstGeom>
          <a:solidFill>
            <a:srgbClr val="192D4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19" y="1371600"/>
            <a:ext cx="2926080" cy="713232"/>
          </a:xfrm>
          <a:prstGeom prst="rect">
            <a:avLst/>
          </a:prstGeom>
          <a:solidFill>
            <a:srgbClr val="192D4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39" y="151790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Описание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371600"/>
            <a:ext cx="2286000" cy="713232"/>
          </a:xfrm>
          <a:prstGeom prst="rect">
            <a:avLst/>
          </a:prstGeom>
          <a:solidFill>
            <a:srgbClr val="192D4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1517904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Входные данные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4206240" cy="713232"/>
          </a:xfrm>
          <a:prstGeom prst="rect">
            <a:avLst/>
          </a:prstGeom>
          <a:solidFill>
            <a:srgbClr val="192D4B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517904"/>
            <a:ext cx="4114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Ожидаемый результат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84832"/>
            <a:ext cx="5486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1" y="2194560"/>
            <a:ext cx="402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19" y="2084832"/>
            <a:ext cx="2926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61872" y="2194560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0" y="2084832"/>
            <a:ext cx="2286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87952" y="2194560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2084832"/>
            <a:ext cx="4206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2194560"/>
            <a:ext cx="40599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2798064"/>
            <a:ext cx="5486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1" y="2907792"/>
            <a:ext cx="402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19" y="2798064"/>
            <a:ext cx="2926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61872" y="2907792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0" y="2798064"/>
            <a:ext cx="2286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87952" y="2907792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2798064"/>
            <a:ext cx="4206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2907792"/>
            <a:ext cx="40599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3511296"/>
            <a:ext cx="5486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1" y="3621024"/>
            <a:ext cx="402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19" y="3511296"/>
            <a:ext cx="2926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61872" y="3621024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14800" y="3511296"/>
            <a:ext cx="2286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87952" y="3621024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0" y="3511296"/>
            <a:ext cx="4206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73952" y="3621024"/>
            <a:ext cx="40599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" y="4224528"/>
            <a:ext cx="5486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1" y="4334256"/>
            <a:ext cx="402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719" y="4224528"/>
            <a:ext cx="2926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61872" y="4334256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114800" y="4224528"/>
            <a:ext cx="2286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87952" y="4334256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400800" y="4224528"/>
            <a:ext cx="4206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73952" y="4334256"/>
            <a:ext cx="40599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" y="4937760"/>
            <a:ext cx="5486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3231" y="5047488"/>
            <a:ext cx="402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88719" y="4937760"/>
            <a:ext cx="2926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261872" y="5047488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114800" y="4937760"/>
            <a:ext cx="2286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87952" y="5047488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800" y="4937760"/>
            <a:ext cx="4206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73952" y="5047488"/>
            <a:ext cx="40599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B36"/>
                </a:solidFill>
                <a:latin typeface="Arial"/>
              </a:defRPr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Задание 3. Составьте баг-репорт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2B36"/>
                </a:solidFill>
                <a:latin typeface="Arial"/>
              </a:defRPr>
            </a:pPr>
            <a:r>
              <a:t>Ситуация: при правильном логине и пароле появляется сообщение «Неверный пароль».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B36"/>
                </a:solidFill>
                <a:latin typeface="Arial"/>
              </a:defRPr>
            </a:pPr>
            <a:r>
              <a:t>Заголовок: _________________________________________________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5856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B36"/>
                </a:solidFill>
                <a:latin typeface="Arial"/>
              </a:defRPr>
            </a:pPr>
            <a:r>
              <a:t>Шаги воспроизведения: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42615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B36"/>
                </a:solidFill>
                <a:latin typeface="Arial"/>
              </a:defRPr>
            </a:pPr>
            <a:r>
              <a:t>1. _________________________________________________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26663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B36"/>
                </a:solidFill>
                <a:latin typeface="Arial"/>
              </a:defRPr>
            </a:pPr>
            <a:r>
              <a:t>2. _________________________________________________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10711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B36"/>
                </a:solidFill>
                <a:latin typeface="Arial"/>
              </a:defRPr>
            </a:pPr>
            <a:r>
              <a:t>3. _________________________________________________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B36"/>
                </a:solidFill>
                <a:latin typeface="Arial"/>
              </a:defRPr>
            </a:pPr>
            <a:r>
              <a:t>Фактический результат: ______________________________________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788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B36"/>
                </a:solidFill>
                <a:latin typeface="Arial"/>
              </a:defRPr>
            </a:pPr>
            <a:r>
              <a:t>Ожидаемый результат: _______________________________________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6285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B36"/>
                </a:solidFill>
                <a:latin typeface="Arial"/>
              </a:defRPr>
            </a:pPr>
            <a:r>
              <a:t>Окружение: _________________________________________________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4690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B36"/>
                </a:solidFill>
                <a:latin typeface="Arial"/>
              </a:defRPr>
            </a:pPr>
            <a:r>
              <a:t>Приоритет: _________________________________________________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33095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B36"/>
                </a:solidFill>
                <a:latin typeface="Arial"/>
              </a:defRPr>
            </a:pPr>
            <a:r>
              <a:t>Серьёзность: _______________________________________________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976"/>
                </a:solidFill>
                <a:latin typeface="Arial"/>
              </a:defRPr>
            </a:pPr>
            <a:r>
              <a:t>Окружение из условия: Chrome, Windows 10, версия приложения 2.1.0.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rial"/>
              </a:defRPr>
            </a:pPr>
            <a:r>
              <a:t>Итоги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Тестирование программного обеспечения •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Тестирование — сбор информации о качестве, а не поиск виноватых.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Разные уровни и виды тестирования решают разные задачи.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Пирамида помогает распределять усилия эффективно.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Автоматизация поддерживает быструю и надёжную разработку.</a:t>
            </a:r>
          </a:p>
          <a:p>
            <a:pPr>
              <a:spcAft>
                <a:spcPts val="1100"/>
              </a:spcAft>
              <a:defRPr sz="1900">
                <a:solidFill>
                  <a:srgbClr val="232B36"/>
                </a:solidFill>
                <a:latin typeface="Arial"/>
              </a:defRPr>
            </a:pPr>
            <a:r>
              <a:t>Тестирование продолжается на всём жизненном цикле ПО.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617</Words>
  <Application>Microsoft Office PowerPoint</Application>
  <PresentationFormat>Широкоэкранный</PresentationFormat>
  <Paragraphs>109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Арсентий Абдалов</dc:creator>
  <cp:keywords/>
  <dc:description>generated using python-pptx</dc:description>
  <cp:lastModifiedBy>Арсентий Абдалов</cp:lastModifiedBy>
  <cp:revision>2</cp:revision>
  <dcterms:created xsi:type="dcterms:W3CDTF">2013-01-27T09:14:16Z</dcterms:created>
  <dcterms:modified xsi:type="dcterms:W3CDTF">2026-10-02T18:04:29Z</dcterms:modified>
  <cp:category/>
</cp:coreProperties>
</file>