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94360"/>
            <a:ext cx="2011680" cy="20116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1554480"/>
            <a:ext cx="1188720" cy="11887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58200" y="2331720"/>
            <a:ext cx="914400" cy="91440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0" y="4160520"/>
            <a:ext cx="3108960" cy="1143000"/>
          </a:xfrm>
          <a:prstGeom prst="roundRect">
            <a:avLst/>
          </a:prstGeom>
          <a:solidFill>
            <a:srgbClr val="1F2D48"/>
          </a:solidFill>
          <a:ln>
            <a:solidFill>
              <a:srgbClr val="1F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1323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ПРОЕКТИРОВАНИЕ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13232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Работа в команде:</a:t>
            </a:r>
          </a:p>
          <a:p>
            <a:pPr>
              <a:spcAft>
                <a:spcPts val="7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Agile, Scrum и Kanban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63093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2E8F0"/>
                </a:solidFill>
                <a:latin typeface="Aptos"/>
              </a:defRPr>
            </a:pPr>
            <a:r>
              <a:t>Как доставлять ценность, когда требования меняются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389120"/>
            <a:ext cx="26517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80 минут • лекция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Технологии меняются. Хорошая командная работа — тоже технология.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Маршрут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От философии — к конкретным рабочим практикам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6060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48840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57984"/>
            <a:ext cx="1600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01  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88920"/>
            <a:ext cx="21945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Зачем нужны гибкие подходы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6060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5887" y="2148840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2157984"/>
            <a:ext cx="1600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02  Scrum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788920"/>
            <a:ext cx="21945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Роли, артефакты, события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26060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56248" y="2148840"/>
            <a:ext cx="438912" cy="43891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157984"/>
            <a:ext cx="1600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03  Kanban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788920"/>
            <a:ext cx="21945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Поток и WIP-лимиты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6060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36608" y="2148840"/>
            <a:ext cx="438912" cy="438912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157984"/>
            <a:ext cx="1600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04  Практика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788920"/>
            <a:ext cx="21945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Кейс, планирование, ретроспектива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106070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2239"/>
                </a:solidFill>
                <a:latin typeface="Aptos"/>
              </a:defRPr>
            </a:pPr>
            <a:r>
              <a:t>Цель: понять не только термины, но и то, как команда принимает решения и улучшает работу.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Почему «просто составить план» недостаточно?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Представим проект, который длится полгода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747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246888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92224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План был идеальным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3108960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Требования подробно описали в начале. Все уверены, что мир останется прежним.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73152" cy="246888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Мир поменялся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108960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Клиент увидел конкурента, рынок изменился, часть требований устарела.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747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73152" cy="24688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Проблема обнаружилась поздно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58568"/>
            <a:ext cx="3108960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Интеграция и тестирование в конце превращаются в дорогой сюрприз.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1014984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62239"/>
                </a:solidFill>
                <a:latin typeface="Aptos"/>
              </a:defRPr>
            </a:pPr>
            <a:r>
              <a:t>Вопрос: как раньше получать обратную связь и безопаснее менять курс?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От «Водопада» к гибкости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Не обязательно выбрасывать планирование — важно сократить цикл обратной связи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347472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55063"/>
            <a:ext cx="4846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Водопад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4846320" cy="27614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Требования → проектирование → разработка → тестирование → релиз</a:t>
            </a: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Риск: ошибка или изменение обнаруживаются поздно.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73152" cy="347472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55063"/>
            <a:ext cx="4846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Agile-подход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21408"/>
            <a:ext cx="4846320" cy="27614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Небольшой цикл: выбрать ценность → сделать → проверить → получить обратную связь → адаптировать.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94A3B8"/>
                </a:solidFill>
                <a:latin typeface="Aptos"/>
              </a:defRPr>
            </a:pPr>
            <a:r>
              <a:t>Метафора: лучше регулярно пробовать блюдо, чем впервые открыть крышку кастрюли через полгода.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Agile Manifesto: 4 ценности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Манифест опубликован в 2001 году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" cy="84124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27048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Люди и взаимодействие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36192"/>
            <a:ext cx="61264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важнее процессов и инструментов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32888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32888"/>
            <a:ext cx="109728" cy="8412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42616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Работающий продукт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51760"/>
            <a:ext cx="61264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важнее исчерпывающей документации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48456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48456"/>
            <a:ext cx="109728" cy="84124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58184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Сотрудничество с заказчиком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67328"/>
            <a:ext cx="61264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важнее согласования условий контракта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64024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64024"/>
            <a:ext cx="109728" cy="84124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73752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Готовность к изменениям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882896"/>
            <a:ext cx="61264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важнее следования первоначальному плану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4A3B8"/>
                </a:solidFill>
                <a:latin typeface="Aptos"/>
              </a:defRPr>
            </a:pPr>
            <a:r>
              <a:t>Важно: правая часть тоже нужна — манифест задаёт приоритеты, а не запрещает документацию и контракты.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Что стоит за ценностями Agile?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Ключевые идеи принципов — коротко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57276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55063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Ценность клиенту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Поставлять полезное как можно раньше и регулярно.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73152" cy="157276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655063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Изменения — норма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2140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Использовать новые требования как источник ценности.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08760"/>
            <a:ext cx="73152" cy="157276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655063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Частая поставка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2140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Работающий продукт — главный показатель прогресса.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73152" cy="157276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210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Сотрудничество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8736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Бизнес и разработчики работают вместе ежедневно.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474720"/>
            <a:ext cx="73152" cy="157276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6210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Люди и доверие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08736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Мотивированная команда и устойчивый темп важны.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74720"/>
            <a:ext cx="352044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474720"/>
            <a:ext cx="73152" cy="157276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6210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Самоорганизация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087368"/>
            <a:ext cx="3154680" cy="8595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Команда ищет лучшие способы выполнять работу.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Scrum держится на трёх столпах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Они помогают команде видеть реальность и реагировать на неё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1645920"/>
            <a:ext cx="960120" cy="96012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017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239"/>
                </a:solidFill>
                <a:latin typeface="Aptos"/>
              </a:defRPr>
            </a:pPr>
            <a:r>
              <a:t>Прозрачность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7432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Общий язык, понятные цели и видимое состояние работы.</a:t>
            </a:r>
          </a:p>
        </p:txBody>
      </p:sp>
      <p:sp>
        <p:nvSpPr>
          <p:cNvPr id="10" name="Oval 9"/>
          <p:cNvSpPr/>
          <p:nvPr/>
        </p:nvSpPr>
        <p:spPr>
          <a:xfrm>
            <a:off x="5623560" y="1645920"/>
            <a:ext cx="960120" cy="9601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239"/>
                </a:solidFill>
                <a:latin typeface="Aptos"/>
              </a:defRPr>
            </a:pPr>
            <a:r>
              <a:t>Инспекция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29000"/>
            <a:ext cx="27432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Регулярно проверяем прогресс, продукт и процесс.</a:t>
            </a:r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960120" cy="96012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239"/>
                </a:solidFill>
                <a:latin typeface="Aptos"/>
              </a:defRPr>
            </a:pPr>
            <a:r>
              <a:t>Адаптация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29000"/>
            <a:ext cx="27432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Меняем действия, если обнаружили отклонение или новый риск.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2239"/>
                </a:solidFill>
                <a:latin typeface="Aptos"/>
              </a:defRPr>
            </a:pPr>
            <a:r>
              <a:t>Без прозрачности инспекция слепа; без адаптации инспекция бесполезна.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Scrum: три ответственности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Не путайте ответственность с должностью в оргструктуре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3200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0934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Product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54680" cy="2487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Отвечает за ценность продукта.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Формирует и упорядочивает Product Backlog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Объясняет цели и приоритеты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73152" cy="32004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0934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Scrum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54680" cy="2487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Помогает Scrum работать эффективно.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Устраняет препятствия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Обучает и фасилитирует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Поддерживает самоорганизацию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204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73152" cy="320040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0934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154680" cy="2487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Создают готовый инкремент.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Кросс-функциональные навыки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Сами планируют выполнение работы</a:t>
            </a:r>
          </a:p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Отвечают за качество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0584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B7185"/>
                </a:solidFill>
                <a:latin typeface="Aptos"/>
              </a:defRPr>
            </a:pPr>
            <a:r>
              <a:t>Scrum Master — не «начальник, который раздаёт задачи», а лидер-служитель.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Три артефакта Scrum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Три разных масштаба ответа на вопрос «что делаем?»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613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783080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636776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Product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1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293B"/>
                </a:solidFill>
                <a:latin typeface="Aptos"/>
              </a:defRPr>
            </a:pPr>
            <a:r>
              <a:t>Что может понадобиться продукту?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27631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Упорядоченный список всей известной работы.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105613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200400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054096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Sprint 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44952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293B"/>
                </a:solidFill>
                <a:latin typeface="Aptos"/>
              </a:defRPr>
            </a:pPr>
            <a:r>
              <a:t>Что команда берёт в этот спринт?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44952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Выбранные элементы + план достижения цели спринта.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05613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617720"/>
            <a:ext cx="438912" cy="43891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471416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Increment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62272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293B"/>
                </a:solidFill>
                <a:latin typeface="Aptos"/>
              </a:defRPr>
            </a:pPr>
            <a:r>
              <a:t>Что уже готово?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462272"/>
            <a:ext cx="36576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Работающая часть продукта, соответствующая критериям качества.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Цикл Scrum: от идеи к обратной связи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Спринт — короткая итерация, обычно 1–4 недели в материалах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965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1691640"/>
            <a:ext cx="457200" cy="457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239"/>
                </a:solidFill>
                <a:latin typeface="Aptos"/>
              </a:defRPr>
            </a:pPr>
            <a:r>
              <a:t>Планирование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8024" y="2724912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148840"/>
            <a:ext cx="1965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38727" y="1691640"/>
            <a:ext cx="457200" cy="4572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239"/>
                </a:solidFill>
                <a:latin typeface="Aptos"/>
              </a:defRPr>
            </a:pPr>
            <a:r>
              <a:t>Работа + Daily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4024" y="2724912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2148840"/>
            <a:ext cx="1965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8" y="1691640"/>
            <a:ext cx="457200" cy="45720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242316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239"/>
                </a:solidFill>
                <a:latin typeface="Aptos"/>
              </a:defRPr>
            </a:pPr>
            <a:r>
              <a:t>Готовый инкремент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4" y="2724912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2148840"/>
            <a:ext cx="1965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10728" y="1691640"/>
            <a:ext cx="457200" cy="457200"/>
          </a:xfrm>
          <a:prstGeom prst="ellipse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42316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239"/>
                </a:solidFill>
                <a:latin typeface="Aptos"/>
              </a:defRPr>
            </a:pPr>
            <a:r>
              <a:t>Sprint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36024" y="2724912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2148840"/>
            <a:ext cx="1965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96728" y="1691640"/>
            <a:ext cx="457200" cy="457200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42316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239"/>
                </a:solidFill>
                <a:latin typeface="Aptos"/>
              </a:defRPr>
            </a:pPr>
            <a:r>
              <a:t>Ретроспектива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Каждый спринт заканчивается результатом и возможностью улучшить продукт и способ работы.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8348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B7185"/>
                </a:solidFill>
                <a:latin typeface="Aptos"/>
              </a:defRPr>
            </a:pPr>
            <a:r>
              <a:t>Спринт — не мини-водопад: качество не откладывают на последний день.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Пять событий Scrum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Каждое событие помогает инспектировать и адаптировать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2423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35024"/>
            <a:ext cx="8183879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76809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Зачем этот спринт? Что реально сделать?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423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Daily Scrum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267712"/>
            <a:ext cx="8183879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350008"/>
            <a:ext cx="76809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Синхронизация и план на ближайшие сутки; ориентир — 15 минут.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2423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Работа в спринте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200400"/>
            <a:ext cx="8183879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282696"/>
            <a:ext cx="76809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Команда движется к Sprint Goal и обновляет план.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9664"/>
            <a:ext cx="2423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Sprint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133088"/>
            <a:ext cx="8183879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215384"/>
            <a:ext cx="76809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Показать результат, обсудить обратную связь с заинтересованными сторонами.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2423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Sprint Retrospective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5065776"/>
            <a:ext cx="8183879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148072"/>
            <a:ext cx="76809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Выбрать конкретные улучшения командной работы.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Daily Scrum — не отчёт начальнику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Три вопроса помогают синхронизироваться, но не должны превращаться в допрос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1600200" y="169164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Что сделано?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2860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Что изменилось со вчерашнего дня?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691640"/>
            <a:ext cx="640080" cy="64008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Что дальше?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22860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Какой следующий шаг к цели спринта?</a:t>
            </a:r>
          </a:p>
        </p:txBody>
      </p:sp>
      <p:sp>
        <p:nvSpPr>
          <p:cNvPr id="13" name="Oval 12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Что мешает?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46120"/>
            <a:ext cx="22860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Какие препятствия нужно убрать после встречи?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10058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94A3B8"/>
                </a:solidFill>
                <a:latin typeface="Aptos"/>
              </a:defRPr>
            </a:pPr>
            <a:r>
              <a:t>Если обсуждение требует долгого решения — договоритесь о отдельном разговоре после Daily.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77840"/>
            <a:ext cx="8412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B7185"/>
                </a:solidFill>
                <a:latin typeface="Aptos"/>
              </a:defRPr>
            </a:pPr>
            <a:r>
              <a:t>Юмор команды: «Daily на 45 минут» — это уже не daily, а сериал с новым сезоном каждый день.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Kanban: визуализируем поток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Карточка показывает работу; столбец — этап процесса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97480" cy="4069080"/>
          </a:xfrm>
          <a:prstGeom prst="roundRect">
            <a:avLst/>
          </a:prstGeom>
          <a:solidFill>
            <a:srgbClr val="E8EE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697480" cy="502920"/>
          </a:xfrm>
          <a:prstGeom prst="round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73352"/>
            <a:ext cx="2514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Бэклог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31720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5059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US-12: Фильтр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154679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27355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US-14: Профиль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600200"/>
            <a:ext cx="2697480" cy="4069080"/>
          </a:xfrm>
          <a:prstGeom prst="roundRect">
            <a:avLst/>
          </a:prstGeom>
          <a:solidFill>
            <a:srgbClr val="E8EE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600200"/>
            <a:ext cx="26974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73352"/>
            <a:ext cx="2514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В работе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2" y="2331720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245059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US-08: Вход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93592" y="3154679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327355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US-11: Поиск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600200"/>
            <a:ext cx="2697480" cy="4069080"/>
          </a:xfrm>
          <a:prstGeom prst="roundRect">
            <a:avLst/>
          </a:prstGeom>
          <a:solidFill>
            <a:srgbClr val="E8EE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2697480" cy="502920"/>
          </a:xfrm>
          <a:prstGeom prst="round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673352"/>
            <a:ext cx="2514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Тестирование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2331720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45059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US-05: Валидация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600200"/>
            <a:ext cx="2697480" cy="4069080"/>
          </a:xfrm>
          <a:prstGeom prst="roundRect">
            <a:avLst/>
          </a:prstGeom>
          <a:solidFill>
            <a:srgbClr val="E8EE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600200"/>
            <a:ext cx="269748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673352"/>
            <a:ext cx="2514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Готово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45752" y="2331720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245059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US-02: Меню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3154679"/>
            <a:ext cx="2359152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37192" y="3273551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E293B"/>
                </a:solidFill>
                <a:latin typeface="Aptos"/>
              </a:defRPr>
            </a:pPr>
            <a:r>
              <a:t>US-03: Логин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Доска делает очередь, загрузку и узкие места видимыми.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WIP-лимит: меньше начатого — больше завершённого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WIP = Work In Progress, количество задач в работе одновременно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3063240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239"/>
                </a:solidFill>
                <a:latin typeface="Aptos"/>
              </a:defRPr>
            </a:pPr>
            <a:r>
              <a:t>Без ограничения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709159" cy="23500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Разработчик начал 5 задач. Все почти готовы, но ни одна не завершена.</a:t>
            </a: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Контекстные переключения растут.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07492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54480"/>
            <a:ext cx="73152" cy="30632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70078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239"/>
                </a:solidFill>
                <a:latin typeface="Aptos"/>
              </a:defRPr>
            </a:pPr>
            <a:r>
              <a:t>С WIP-лимитом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67128"/>
            <a:ext cx="4709159" cy="23500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Команда завершает текущую задачу, прежде чем брать следующую.</a:t>
            </a: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Проблемные этапы становятся заметнее.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Правило: если столбец достиг лимита — сначала помогите завершить работу, потом начинайте новую.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Scrum и Kanban: что выбрать?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194560" cy="502920"/>
          </a:xfrm>
          <a:prstGeom prst="round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508760"/>
            <a:ext cx="2048255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Критерий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4023360" cy="502920"/>
          </a:xfrm>
          <a:prstGeom prst="round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508760"/>
            <a:ext cx="387705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Scrum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4160520" cy="502920"/>
          </a:xfrm>
          <a:prstGeom prst="round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1508760"/>
            <a:ext cx="4014215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Kanban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80"/>
            <a:ext cx="21945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103120"/>
            <a:ext cx="19751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E293B"/>
                </a:solidFill>
                <a:latin typeface="Aptos"/>
              </a:defRPr>
            </a:pPr>
            <a:r>
              <a:t>Ритм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011680"/>
            <a:ext cx="40233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103120"/>
            <a:ext cx="38039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Итерации — спринты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011680"/>
            <a:ext cx="416052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2103120"/>
            <a:ext cx="3941063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Непрерывный поток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24912"/>
            <a:ext cx="21945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16352"/>
            <a:ext cx="19751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E293B"/>
                </a:solidFill>
                <a:latin typeface="Aptos"/>
              </a:defRPr>
            </a:pPr>
            <a:r>
              <a:t>Планирование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2724912"/>
            <a:ext cx="40233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2816352"/>
            <a:ext cx="38039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На каждый спринт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724912"/>
            <a:ext cx="416052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2816352"/>
            <a:ext cx="3941063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По мере появления ёмкости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38144"/>
            <a:ext cx="21945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29584"/>
            <a:ext cx="19751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E293B"/>
                </a:solidFill>
                <a:latin typeface="Aptos"/>
              </a:defRPr>
            </a:pPr>
            <a:r>
              <a:t>Роли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438144"/>
            <a:ext cx="40233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3529584"/>
            <a:ext cx="38039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Определённые ответственности Scrum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3438144"/>
            <a:ext cx="416052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3529584"/>
            <a:ext cx="3941063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Метод не требует обязательного набора ролей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51376"/>
            <a:ext cx="21945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242816"/>
            <a:ext cx="19751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E293B"/>
                </a:solidFill>
                <a:latin typeface="Aptos"/>
              </a:defRPr>
            </a:pPr>
            <a:r>
              <a:t>Фокус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151376"/>
            <a:ext cx="40233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4242816"/>
            <a:ext cx="38039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Цель спринта и инкремент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4151376"/>
            <a:ext cx="416052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208" y="4242816"/>
            <a:ext cx="3941063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Поток, время цикла, WIP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64608"/>
            <a:ext cx="21945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956048"/>
            <a:ext cx="19751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E293B"/>
                </a:solidFill>
                <a:latin typeface="Aptos"/>
              </a:defRPr>
            </a:pPr>
            <a:r>
              <a:t>Частое применение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4864608"/>
            <a:ext cx="402336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7248" y="4956048"/>
            <a:ext cx="3803904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Разработка продукта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4864608"/>
            <a:ext cx="416052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208" y="4956048"/>
            <a:ext cx="3941063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Поддержка, операции, переменный поток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B7185"/>
                </a:solidFill>
                <a:latin typeface="Aptos"/>
              </a:defRPr>
            </a:pPr>
            <a:r>
              <a:t>Нет универсального победителя: выбирайте под тип работы, команду и контекст.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Что ещё встречается в гибкой разработке?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1089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7548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XP — Extreme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754879" cy="2395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Больше внимания инженерным практикам: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парное программирование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TDD — тесты до реализации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непрерывная интеграция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12064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73152" cy="310896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46504"/>
            <a:ext cx="47548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239"/>
                </a:solidFill>
                <a:latin typeface="Aptos"/>
              </a:defRPr>
            </a:pPr>
            <a:r>
              <a:t>Scrumban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212848"/>
            <a:ext cx="4754879" cy="2395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Сочетает элементы Scrum и Kanban: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события и итерации Scrum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визуализация потока</a:t>
            </a:r>
          </a:p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• ограничение WIP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Методология помогает организовать работу; качество кода всё равно создают инженерные практики.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Кейс: Scrum-команда буксует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Команда из 6 разработчиков работает по Scrum 3 месяца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02412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996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Daily длится 45 минут вместо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102412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2996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Product Owner добавляет задачи в середине спринта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4320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743200"/>
            <a:ext cx="73152" cy="10241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88950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35584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На Review показывают незаконченные задачи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4320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43200"/>
            <a:ext cx="73152" cy="102412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88950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35584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Команда регулярно не завершает план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069080"/>
            <a:ext cx="73152" cy="102412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1538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68172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Scrum Master действует как менеджер проектов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69080"/>
            <a:ext cx="525780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69080"/>
            <a:ext cx="73152" cy="1024128"/>
          </a:xfrm>
          <a:prstGeom prst="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215384"/>
            <a:ext cx="4892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Проблема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4681728"/>
            <a:ext cx="48920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Ретроспектива проходит формально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Обсудите: это проблема процесса, ролей, коммуникации — или сразу нескольких категорий?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Практика: спланируйте спринт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Команда: 4 разработчика • спринт: 2 недели • velocity: 20 story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US-1 • 5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Регистрация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50876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US-2 • 3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18105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Авторизация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21284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US-3 • 5 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105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Восстановление пароля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1284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50876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US-4 • 8 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8105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Профиль пользователя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21284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Should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83464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2608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US-5 • 3 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2783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Загрузка аватара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3016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Could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83464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292608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US-6 • 5 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322783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Настройки уведомлений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79" y="363016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Should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83464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92608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US-7 • 8 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2783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Экспорт данных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3016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Could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283464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92608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B82F6"/>
                </a:solidFill>
                <a:latin typeface="Aptos"/>
              </a:defRPr>
            </a:pPr>
            <a:r>
              <a:t>US-8 • 13 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22783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2239"/>
                </a:solidFill>
                <a:latin typeface="Aptos"/>
              </a:defRPr>
            </a:pPr>
            <a:r>
              <a:t>Интеграция с Telegram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63016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4A3B8"/>
                </a:solidFill>
                <a:latin typeface="Aptos"/>
              </a:defRPr>
            </a:pPr>
            <a:r>
              <a:t>Could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Задание: выберите реалистичный набор задач до 20 SP, объясните приоритеты и назовите вопросы Product Owner.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B7185"/>
                </a:solidFill>
                <a:latin typeface="Aptos"/>
              </a:defRPr>
            </a:pPr>
            <a:r>
              <a:t>Не забудьте: story points — относительная оценка, а не обещание точного количества часов.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Planning Poker: как оценивать истории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2560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1. Понять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70408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Уточнить пользовательскую ценность, критерии приёмки и зависимости.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441448"/>
            <a:ext cx="2560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2. Оценить независимо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41448"/>
            <a:ext cx="70408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Каждый выбирает оценку, не подстраиваясь под коллег.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465576"/>
            <a:ext cx="2560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3. Обсудить разброс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465576"/>
            <a:ext cx="70408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Сначала говорят участники с крайними оценками: почему так?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35424"/>
            <a:ext cx="457200" cy="457200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489704"/>
            <a:ext cx="25603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4. Повторить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489704"/>
            <a:ext cx="70408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После обсуждения команда голосует снова и фиксирует общую оценку.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3B82F6"/>
                </a:solidFill>
                <a:latin typeface="Aptos"/>
              </a:defRPr>
            </a:pPr>
            <a:r>
              <a:t>Вопросы PO: что обязательно для первого релиза? Какие критерии «готово»? Есть ли внешние зависимости?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Ретроспектива: Start / Stop /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Цель — выбрать небольшие изменения, которые команда действительно проверит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Ретроспектива: Start / Stop /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Цель — выбрать небольшие изменения, которые команда действительно проверит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429000" cy="5486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Начать делать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926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Например: заранее уточнять критерии приёмки.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4592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29000" cy="54864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23160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Перестать делать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71800"/>
            <a:ext cx="2926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Например: добавлять работу без обсуждения влияния на цель спринта.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64592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645920"/>
            <a:ext cx="3429000" cy="54864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7556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423160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239"/>
                </a:solidFill>
                <a:latin typeface="Aptos"/>
              </a:defRPr>
            </a:pPr>
            <a:r>
              <a:t>Продолжать делать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971800"/>
            <a:ext cx="2926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Например: помогать коллегам завершать задачи.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Хороший action item: конкретный, с ответственным, сроком и способом измерить результат.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B7185"/>
                </a:solidFill>
                <a:latin typeface="Aptos"/>
              </a:defRPr>
            </a:pPr>
            <a:r>
              <a:t>Вопрос для команды: какое одно изменение сделает следующий спринт заметно лучше?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Как понять, что стало лучше?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Измеряем результат, а не занятость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2377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Предсказуемость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3108960" cy="1664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Доля задач, завершённых относительно выбранного объёма спринта.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237744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55063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Поток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21408"/>
            <a:ext cx="3108960" cy="1664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Время цикла, возраст незавершённых задач, количество блокировок.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087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08760"/>
            <a:ext cx="73152" cy="237744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655063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Качество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121408"/>
            <a:ext cx="3108960" cy="1664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Дефекты, возвраты с тестирования, соответствие Definition of Done.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2239"/>
                </a:solidFill>
                <a:latin typeface="Aptos"/>
              </a:defRPr>
            </a:pPr>
            <a:r>
              <a:t>Метрики — для обучения и улучшения процесса, а не для рейтинга отдельных людей.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875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Инструменты из задания: Jira, Trello, Asana, YouTrack, Azure DevOps; Miro / Mural для ретроспектив.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Главное, что нужно унести с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Четыре вывода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389888"/>
            <a:ext cx="2377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Agile — философия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389888"/>
            <a:ext cx="7040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Гибкость, сотрудничество и регулярная поставка ценности.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395728"/>
            <a:ext cx="530352" cy="53035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414016"/>
            <a:ext cx="2377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Scrum — структура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414016"/>
            <a:ext cx="7040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Роли, артефакты, события и короткие итерации.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19856"/>
            <a:ext cx="530352" cy="53035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438144"/>
            <a:ext cx="2377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Kanban — поток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040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Визуализация работы и ограничение WIP.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43984"/>
            <a:ext cx="530352" cy="530352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23774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239"/>
                </a:solidFill>
                <a:latin typeface="Aptos"/>
              </a:defRPr>
            </a:pPr>
            <a:r>
              <a:t>Контекст решает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62272"/>
            <a:ext cx="7040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93B"/>
                </a:solidFill>
                <a:latin typeface="Aptos"/>
              </a:defRPr>
            </a:pPr>
            <a:r>
              <a:t>Универсально лучшей методологии нет; улучшайте и адаптируйте.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66928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94A3B8"/>
                </a:solidFill>
                <a:latin typeface="Aptos"/>
              </a:defRPr>
            </a:pPr>
            <a:r>
              <a:t>Следующая тема: CI/CD, DevOps и мониторинг. А сейчас — вопросы и мини-ретроспектива.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Практика после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Работа в командах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33832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636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Задание 1 • Scrum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9968"/>
            <a:ext cx="3154680" cy="2670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Смоделируйте мини-спринт: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планирование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распределение ответственности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короткая синхронизация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обзор результата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ретроспектива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338328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636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Задание 2 • Trello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29968"/>
            <a:ext cx="3154680" cy="2670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Создайте доску с колонками: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Backlog → To Do → In Progress → Code Review → Done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Добавьте 5–7 задач и перемещайте карточки по мере выполнения.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338328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6362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239"/>
                </a:solidFill>
                <a:latin typeface="Aptos"/>
              </a:defRPr>
            </a:pPr>
            <a:r>
              <a:t>Задание 3 • Анализ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29968"/>
            <a:ext cx="3154680" cy="2670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Для кейса Scrum: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классифицируйте 6 проблем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предложите по 2 решения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определите первопричины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составьте план на 2 спринта</a:t>
            </a:r>
          </a:p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выберите метрики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62239"/>
                </a:solidFill>
                <a:latin typeface="Aptos"/>
              </a:defRPr>
            </a:pPr>
            <a:r>
              <a:t>Финальный вопрос: что вы измените в работе своей команды уже завтра?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239"/>
                </a:solidFill>
                <a:latin typeface="Aptos"/>
              </a:defRPr>
            </a:pPr>
            <a:r>
              <a:t>Шпаргалка: термины, которые пригодятся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77240" cy="502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601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ПИ • Лекция 06 • Agile / Scrum / Kanban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52704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упорядоченный список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2704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52704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ограниченная по времени итерация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5292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Increment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85292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готовая работающая часть продукта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5292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WIP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85292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работа, начатая, но ещё не завершённая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7880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7880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объём работы команды за итерацию в story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69080"/>
            <a:ext cx="52578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78808"/>
            <a:ext cx="17373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Retrospective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178808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встреча для улучшения процесса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94A3B8"/>
                </a:solidFill>
                <a:latin typeface="Aptos"/>
              </a:defRPr>
            </a:pPr>
            <a:r>
              <a:t>Совет: договоритесь о едином понимании терминов — это часть прозрачности.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