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5" r:id="rId5"/>
    <p:sldId id="266" r:id="rId6"/>
    <p:sldId id="267" r:id="rId7"/>
    <p:sldId id="268" r:id="rId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 showGuides="1">
      <p:cViewPr varScale="1">
        <p:scale>
          <a:sx n="102" d="100"/>
          <a:sy n="102" d="100"/>
        </p:scale>
        <p:origin x="870" y="11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06F939B-D03E-D30C-A810-EEBDA71382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9D796D6E-ADE2-CD1C-C647-8F50E69FF1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254BB7D-7194-4C9C-A117-D81E37A6BC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62E36-7B94-44FF-8913-FF4B90064E98}" type="datetimeFigureOut">
              <a:rPr lang="ru-RU" smtClean="0"/>
              <a:t>03.10.2025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1B689A0-1B10-B447-8DF5-B76FB086E0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D72CFA4-E6B4-684D-9E2A-C1B96748D9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5F418-D851-46F7-ABD9-444A8078EF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932909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B3E55A4-6149-A983-0363-BFE7D04E48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1FAB9FE-B873-3E72-E18C-39A157123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BEC2870-7F6E-109B-8041-25E74D479F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62E36-7B94-44FF-8913-FF4B90064E98}" type="datetimeFigureOut">
              <a:rPr lang="ru-RU" smtClean="0"/>
              <a:t>03.10.2025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813C32C-236A-F54D-E292-41D0CA490A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64F8EDF-1B27-7091-7D47-5775A543AC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5F418-D851-46F7-ABD9-444A8078EF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68375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0AFCB83-D2FC-83AB-039E-72B248473B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1E649E9-8EA1-1378-239D-EFC635AF16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5EE3025-46A2-5F31-ED73-E78860B353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62E36-7B94-44FF-8913-FF4B90064E98}" type="datetimeFigureOut">
              <a:rPr lang="ru-RU" smtClean="0"/>
              <a:t>03.10.2025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D806FFF-C6C0-5DE1-F22F-F4C6828D0C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D8F3275-CFFB-FB65-9D5C-14A3FAF5B5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5F418-D851-46F7-ABD9-444A8078EF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840496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C956727-548A-3309-C384-2C15A8C9F5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D70AFF7-FE6C-8D72-91DE-19FECB3BBF4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80A1665-FAD8-2AA9-4057-198007F3F6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89E6712-3ED8-DABB-C8FC-43C31B7AB6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62E36-7B94-44FF-8913-FF4B90064E98}" type="datetimeFigureOut">
              <a:rPr lang="ru-RU" smtClean="0"/>
              <a:t>03.10.2025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B20F49A-8F5E-A113-1FFC-C2501B6166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B6FB815-92B1-1F33-286B-8343A8E90F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5F418-D851-46F7-ABD9-444A8078EF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289565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8C89510-A44E-03DE-C188-5FEEA96413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529430F-EA7F-1C72-879C-4BBC4175BE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366FDB1E-510D-4A5F-8A3F-9B1F5D08D2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454DC8E5-52AA-7753-3566-A382C6CE5F6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A7779F90-47D7-2460-83A8-B62CAEB878E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850C7755-3347-4D90-6EF8-2DD306C3FD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62E36-7B94-44FF-8913-FF4B90064E98}" type="datetimeFigureOut">
              <a:rPr lang="ru-RU" smtClean="0"/>
              <a:t>03.10.2025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EBDDCA8A-A2AF-401A-C284-5EA347E388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601B781E-BB26-1167-2ACB-AD005A8FBC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5F418-D851-46F7-ABD9-444A8078EF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363096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7F3A3E7-F129-6CD9-9D39-C0C4BD52E0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B4DBD420-4980-6586-AF75-9993055C43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62E36-7B94-44FF-8913-FF4B90064E98}" type="datetimeFigureOut">
              <a:rPr lang="ru-RU" smtClean="0"/>
              <a:t>03.10.2025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EAA0E24F-43AF-7E00-5BDC-D271F6C8CF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79ED13AB-62D2-A8C2-247B-6C990616BC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5F418-D851-46F7-ABD9-444A8078EF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224636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9830C6C5-A9A9-A031-9835-3E445316D6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62E36-7B94-44FF-8913-FF4B90064E98}" type="datetimeFigureOut">
              <a:rPr lang="ru-RU" smtClean="0"/>
              <a:t>03.10.2025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8D157B3B-236F-59DB-B6BD-126655F866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18F42D4-D553-08AE-0D3F-1AE23CB37E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5F418-D851-46F7-ABD9-444A8078EF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375192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AC2B731-F2CF-CED1-E595-603B6F460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86A1EE9-BB36-302B-9B21-7BC53E358B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F993FB8-D340-AA88-8A83-9F640F14BA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CE24426-0AF0-F702-3E6F-EB5E7FD50E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62E36-7B94-44FF-8913-FF4B90064E98}" type="datetimeFigureOut">
              <a:rPr lang="ru-RU" smtClean="0"/>
              <a:t>03.10.2025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F127403-AFF5-A1F1-C38B-EAE576746B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DD87016-7C3B-8820-5FFA-E1F41226CD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5F418-D851-46F7-ABD9-444A8078EF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271808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0083BC2-5D8C-6DCC-9DB4-22045EA482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B43429BF-C80C-6FB7-B257-57CBDC1FDDF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7AF6F03-3F54-0FBC-2041-1417E6AF34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97682CD-F275-E00C-9E86-EC98EA0FF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62E36-7B94-44FF-8913-FF4B90064E98}" type="datetimeFigureOut">
              <a:rPr lang="ru-RU" smtClean="0"/>
              <a:t>03.10.2025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9F279DD-417B-2C4B-28BA-0A5350BBA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514FC7C-95BE-CB51-FA62-273D7A50E0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5F418-D851-46F7-ABD9-444A8078EF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676166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950BA6A-9AE9-7C7A-3926-887923A357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B89E3E1A-29AD-799B-AF38-5D6203AD2A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9281B96-8B5E-3649-E736-48828CE42F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62E36-7B94-44FF-8913-FF4B90064E98}" type="datetimeFigureOut">
              <a:rPr lang="ru-RU" smtClean="0"/>
              <a:t>03.10.2025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2B8976D-6341-2F02-209A-1BABFE625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576A6FD-5AF5-7F33-A734-7DD6D253A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5F418-D851-46F7-ABD9-444A8078EF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342212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DCB62C44-C171-CB5F-5F56-26B88D1D7AE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2B4AD2F9-ED0C-7417-1C1D-386663A0E2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38FE3A7-8B80-C7F0-DB9F-7B2D2E1B42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62E36-7B94-44FF-8913-FF4B90064E98}" type="datetimeFigureOut">
              <a:rPr lang="ru-RU" smtClean="0"/>
              <a:t>03.10.2025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D74A1F5-D0C0-746C-9FDA-EAFD1369DF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4B8AE5F-419C-3412-B52D-B3C77E65A9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5F418-D851-46F7-ABD9-444A8078EF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143992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10A8ACE-89FD-86A8-11E5-2DE20E7212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973113E-A006-24C6-0730-C1738BF2D9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9570BD6-0B00-7DFA-125A-629E83DD7C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A62E36-7B94-44FF-8913-FF4B90064E98}" type="datetimeFigureOut">
              <a:rPr lang="ru-RU" smtClean="0"/>
              <a:t>03.10.2025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CC25892-923C-BAE0-48E6-F7061E8AD4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7C92736-5165-6F55-7961-EA2F0F9565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15F418-D851-46F7-ABD9-444A8078EF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897647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68A2FC49-0F3D-10F3-3C58-C150ADDDA79A}"/>
              </a:ext>
            </a:extLst>
          </p:cNvPr>
          <p:cNvSpPr>
            <a:spLocks noGrp="1"/>
          </p:cNvSpPr>
          <p:nvPr/>
        </p:nvSpPr>
        <p:spPr>
          <a:xfrm>
            <a:off x="767408" y="637906"/>
            <a:ext cx="10009112" cy="115212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40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Технология разработки программного обеспечения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4CF9474D-52CF-A0C1-82BD-88882A3B6B89}"/>
              </a:ext>
            </a:extLst>
          </p:cNvPr>
          <p:cNvSpPr/>
          <p:nvPr/>
        </p:nvSpPr>
        <p:spPr>
          <a:xfrm>
            <a:off x="2328709" y="5850762"/>
            <a:ext cx="7357848" cy="36933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0000"/>
              </a:lnSpc>
              <a:spcBef>
                <a:spcPct val="0"/>
              </a:spcBef>
            </a:pPr>
            <a:r>
              <a:rPr lang="ru-RU" sz="20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СРЕДНЕРУССКИЙ ИНСТИТУТ УПРАВЛЕНИЯ - РАНХиГС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6D372B26-2A09-4EED-6486-A25A87BA09D9}"/>
              </a:ext>
            </a:extLst>
          </p:cNvPr>
          <p:cNvSpPr/>
          <p:nvPr/>
        </p:nvSpPr>
        <p:spPr>
          <a:xfrm>
            <a:off x="1991544" y="5073564"/>
            <a:ext cx="7560840" cy="646331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Доцент кафедры «Математики и информационных технологий», кандидат технических наук Абдалов Арсентий Владимирович</a:t>
            </a:r>
          </a:p>
        </p:txBody>
      </p:sp>
      <p:sp>
        <p:nvSpPr>
          <p:cNvPr id="7" name="TextBox 3">
            <a:extLst>
              <a:ext uri="{FF2B5EF4-FFF2-40B4-BE49-F238E27FC236}">
                <a16:creationId xmlns:a16="http://schemas.microsoft.com/office/drawing/2014/main" id="{C8FFEF4D-BCEA-CBA4-F2AB-011E6A9000B2}"/>
              </a:ext>
            </a:extLst>
          </p:cNvPr>
          <p:cNvSpPr txBox="1"/>
          <p:nvPr/>
        </p:nvSpPr>
        <p:spPr>
          <a:xfrm>
            <a:off x="0" y="2698876"/>
            <a:ext cx="1219199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Практическое занятие №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Анализ и рефакторинг "плохого" кода.</a:t>
            </a: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21899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581224-752A-DFD2-CFBE-6223E6F321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6B05BA81-1097-457A-493F-2E5B52C3C659}"/>
              </a:ext>
            </a:extLst>
          </p:cNvPr>
          <p:cNvSpPr txBox="1"/>
          <p:nvPr/>
        </p:nvSpPr>
        <p:spPr>
          <a:xfrm>
            <a:off x="0" y="1065229"/>
            <a:ext cx="1219200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Цель занятия: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Развить навык критического анализа кода, распознавания "запахов кода" (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code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smells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и применения базовых техник рефакторинга для их устранения.</a:t>
            </a:r>
            <a:endParaRPr lang="en-US" sz="3200" kern="1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br>
              <a:rPr lang="ru-RU" sz="3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</a:br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Формат: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Мини-лекция -&gt; Индивидуальный анализ -&gt; Работа в парах -&gt; Групповое обсуждение.</a:t>
            </a:r>
          </a:p>
        </p:txBody>
      </p:sp>
    </p:spTree>
    <p:extLst>
      <p:ext uri="{BB962C8B-B14F-4D97-AF65-F5344CB8AC3E}">
        <p14:creationId xmlns:p14="http://schemas.microsoft.com/office/powerpoint/2010/main" val="29949991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87E35A-9FE6-BF18-E83B-21E665C075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657DEF5D-4E2A-C4FC-B1A0-F98C88B6BD87}"/>
              </a:ext>
            </a:extLst>
          </p:cNvPr>
          <p:cNvSpPr txBox="1"/>
          <p:nvPr/>
        </p:nvSpPr>
        <p:spPr>
          <a:xfrm>
            <a:off x="0" y="47134"/>
            <a:ext cx="12192000" cy="14443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Часть 1. "Сегодня мы будем врачами-диагностами. Наш пациент — код. Наша задача — поставить ему диагноз (‘запах кода’) и назначить ‘лечение’ (рефакторинг)".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32E84B2-8BE1-556B-ECC5-5F26DFA92505}"/>
              </a:ext>
            </a:extLst>
          </p:cNvPr>
          <p:cNvSpPr txBox="1"/>
          <p:nvPr/>
        </p:nvSpPr>
        <p:spPr>
          <a:xfrm>
            <a:off x="0" y="1650579"/>
            <a:ext cx="12192000" cy="46219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lvl="1" indent="-285750" algn="just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ru-RU" sz="2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Запахи кода (на примерах):</a:t>
            </a:r>
            <a:endParaRPr lang="ru-RU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143000" lvl="2" indent="-228600" algn="just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"/>
              <a:tabLst>
                <a:tab pos="1371600" algn="l"/>
              </a:tabLst>
            </a:pPr>
            <a:r>
              <a:rPr lang="ru-RU" sz="2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Длинный метод (Long </a:t>
            </a:r>
            <a:r>
              <a:rPr lang="ru-RU" sz="2000" b="1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Method</a:t>
            </a:r>
            <a:r>
              <a:rPr lang="ru-RU" sz="2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):</a:t>
            </a:r>
            <a:r>
              <a:rPr lang="ru-RU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Метод на 50+ строк.</a:t>
            </a:r>
            <a:endParaRPr lang="ru-RU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143000" lvl="2" indent="-228600" algn="just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"/>
              <a:tabLst>
                <a:tab pos="1371600" algn="l"/>
              </a:tabLst>
            </a:pPr>
            <a:r>
              <a:rPr lang="ru-RU" sz="2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Дублирование кода (</a:t>
            </a:r>
            <a:r>
              <a:rPr lang="ru-RU" sz="2000" b="1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Duplicate</a:t>
            </a:r>
            <a:r>
              <a:rPr lang="ru-RU" sz="2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Code):</a:t>
            </a:r>
            <a:r>
              <a:rPr lang="ru-RU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Одинаковый код в двух и более местах.</a:t>
            </a:r>
            <a:endParaRPr lang="ru-RU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143000" lvl="2" indent="-228600" algn="just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"/>
              <a:tabLst>
                <a:tab pos="1371600" algn="l"/>
              </a:tabLst>
            </a:pPr>
            <a:r>
              <a:rPr lang="ru-RU" sz="2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Волшебные числа (Magic </a:t>
            </a:r>
            <a:r>
              <a:rPr lang="ru-RU" sz="2000" b="1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Numbers</a:t>
            </a:r>
            <a:r>
              <a:rPr lang="ru-RU" sz="2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):</a:t>
            </a:r>
            <a:r>
              <a:rPr lang="ru-RU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Числа прямо в коде без поясняющих констант.</a:t>
            </a:r>
            <a:endParaRPr lang="ru-RU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143000" lvl="2" indent="-228600" algn="just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"/>
              <a:tabLst>
                <a:tab pos="1371600" algn="l"/>
              </a:tabLst>
            </a:pPr>
            <a:r>
              <a:rPr lang="ru-RU" sz="2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Техническое имя переменной</a:t>
            </a:r>
            <a:r>
              <a:rPr lang="en-US" sz="2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(Uninformative Name):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int a;, string temp.</a:t>
            </a:r>
            <a:endParaRPr lang="ru-RU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 algn="just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ru-RU" sz="2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Приемы рефакторинга:</a:t>
            </a:r>
            <a:endParaRPr lang="ru-RU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143000" lvl="2" indent="-228600" algn="just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"/>
              <a:tabLst>
                <a:tab pos="1371600" algn="l"/>
              </a:tabLst>
            </a:pPr>
            <a:r>
              <a:rPr lang="ru-RU" sz="2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Извлечение метода (</a:t>
            </a:r>
            <a:r>
              <a:rPr lang="ru-RU" sz="2000" b="1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Extract</a:t>
            </a:r>
            <a:r>
              <a:rPr lang="ru-RU" sz="2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000" b="1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Method</a:t>
            </a:r>
            <a:r>
              <a:rPr lang="ru-RU" sz="2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):</a:t>
            </a:r>
            <a:r>
              <a:rPr lang="ru-RU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Выделение фрагмента кода в отдельный метод.</a:t>
            </a:r>
            <a:endParaRPr lang="ru-RU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143000" lvl="2" indent="-228600" algn="just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"/>
              <a:tabLst>
                <a:tab pos="1371600" algn="l"/>
              </a:tabLst>
            </a:pPr>
            <a:r>
              <a:rPr lang="ru-RU" sz="2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Переименование (</a:t>
            </a:r>
            <a:r>
              <a:rPr lang="ru-RU" sz="2000" b="1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Rename</a:t>
            </a:r>
            <a:r>
              <a:rPr lang="ru-RU" sz="2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):</a:t>
            </a:r>
            <a:r>
              <a:rPr lang="ru-RU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Присвоение понятного имени.</a:t>
            </a:r>
            <a:endParaRPr lang="ru-RU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143000" lvl="2" indent="-228600" algn="just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"/>
              <a:tabLst>
                <a:tab pos="1371600" algn="l"/>
              </a:tabLst>
            </a:pPr>
            <a:r>
              <a:rPr lang="ru-RU" sz="2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Выделение константы (</a:t>
            </a:r>
            <a:r>
              <a:rPr lang="ru-RU" sz="2000" b="1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Extract</a:t>
            </a:r>
            <a:r>
              <a:rPr lang="ru-RU" sz="2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000" b="1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Constant</a:t>
            </a:r>
            <a:r>
              <a:rPr lang="ru-RU" sz="2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):</a:t>
            </a:r>
            <a:r>
              <a:rPr lang="ru-RU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Замена "волшебного числа" на именованную константу.</a:t>
            </a:r>
            <a:endParaRPr lang="ru-RU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143000" lvl="2" indent="-228600" algn="just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"/>
              <a:tabLst>
                <a:tab pos="1371600" algn="l"/>
              </a:tabLst>
            </a:pPr>
            <a:r>
              <a:rPr lang="ru-RU" sz="2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Замена алгоритма (</a:t>
            </a:r>
            <a:r>
              <a:rPr lang="ru-RU" sz="2000" b="1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Substitute</a:t>
            </a:r>
            <a:r>
              <a:rPr lang="ru-RU" sz="2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000" b="1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Algorithm</a:t>
            </a:r>
            <a:r>
              <a:rPr lang="ru-RU" sz="2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):</a:t>
            </a:r>
            <a:r>
              <a:rPr lang="ru-RU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Замена сложного алгоритма на более простой и ясный.</a:t>
            </a:r>
            <a:endParaRPr lang="ru-RU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28558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5B2993-3167-80BF-540B-3C2A665990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CE64D45-FA05-4AAD-4E76-3B22504B2604}"/>
              </a:ext>
            </a:extLst>
          </p:cNvPr>
          <p:cNvSpPr txBox="1"/>
          <p:nvPr/>
        </p:nvSpPr>
        <p:spPr>
          <a:xfrm>
            <a:off x="1572" y="0"/>
            <a:ext cx="12190428" cy="10252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ru-RU" sz="2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Часть 2: Индивидуальный анализ "пациента"</a:t>
            </a:r>
            <a:endParaRPr lang="ru-RU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ru-RU" sz="24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Пример на Python (функция расчета стоимости заказа):</a:t>
            </a:r>
            <a:endParaRPr lang="ru-RU" sz="2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D054D2D-7D6A-E68B-54B8-AD43A24A200F}"/>
              </a:ext>
            </a:extLst>
          </p:cNvPr>
          <p:cNvSpPr txBox="1"/>
          <p:nvPr/>
        </p:nvSpPr>
        <p:spPr>
          <a:xfrm>
            <a:off x="0" y="1168421"/>
            <a:ext cx="6155702" cy="3904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def calc(d):</a:t>
            </a:r>
            <a:endParaRPr lang="ru-RU" sz="2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t = 0</a:t>
            </a:r>
            <a:endParaRPr lang="ru-RU" sz="2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for </a:t>
            </a:r>
            <a:r>
              <a:rPr lang="en-US" sz="2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US" sz="2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in d:</a:t>
            </a:r>
            <a:endParaRPr lang="ru-RU" sz="2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t += </a:t>
            </a:r>
            <a:r>
              <a:rPr lang="en-US" sz="2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US" sz="2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['pr'] * </a:t>
            </a:r>
            <a:r>
              <a:rPr lang="en-US" sz="2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US" sz="2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['qt']</a:t>
            </a:r>
            <a:endParaRPr lang="ru-RU" sz="2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if t &gt; 1000:</a:t>
            </a:r>
            <a:endParaRPr lang="ru-RU" sz="2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t = t * 0.9</a:t>
            </a:r>
            <a:endParaRPr lang="ru-RU" sz="2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2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   return t + (t * 0.2) + 150</a:t>
            </a:r>
            <a:endParaRPr lang="ru-RU" sz="28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35C346A-1A74-32D9-FEE7-D7C5F650D011}"/>
              </a:ext>
            </a:extLst>
          </p:cNvPr>
          <p:cNvSpPr txBox="1"/>
          <p:nvPr/>
        </p:nvSpPr>
        <p:spPr>
          <a:xfrm>
            <a:off x="59702" y="5352236"/>
            <a:ext cx="1219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Проанализировать код и выписать на листок все обнаруженные "запахи кода".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42758546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C90B70-F071-C27D-2F51-850BD6CA0E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FA52C89-111B-4D81-7C54-EBC2C43E5051}"/>
              </a:ext>
            </a:extLst>
          </p:cNvPr>
          <p:cNvSpPr txBox="1"/>
          <p:nvPr/>
        </p:nvSpPr>
        <p:spPr>
          <a:xfrm>
            <a:off x="0" y="0"/>
            <a:ext cx="12192000" cy="471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ru-RU" sz="24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Часть 3: Работа в парах и рефакторинг</a:t>
            </a:r>
            <a:endParaRPr lang="ru-RU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24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Обсуждение в парах.</a:t>
            </a:r>
            <a:endParaRPr lang="ru-RU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 algn="just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ru-RU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Студенты объединяются в пары и сравнивают свои списки "запахов".</a:t>
            </a:r>
            <a:endParaRPr lang="ru-RU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 algn="just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ru-RU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Совместно составляют итоговый список проблем.</a:t>
            </a:r>
            <a:endParaRPr lang="ru-RU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24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Рефакторинг.</a:t>
            </a:r>
            <a:endParaRPr lang="ru-RU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 algn="just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ru-RU" sz="24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Задача для пар:</a:t>
            </a:r>
            <a:r>
              <a:rPr lang="ru-RU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Исправить найденные "запахи кода", проведя рефакторинг примера.</a:t>
            </a:r>
            <a:endParaRPr lang="ru-RU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 algn="just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ru-RU" sz="24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Инструкция:</a:t>
            </a:r>
            <a:r>
              <a:rPr lang="ru-RU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Переписать код, применяя изученные приемы. Цель — сделать код чистым, читаемым и понятным.</a:t>
            </a:r>
            <a:endParaRPr lang="ru-RU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ru-RU" sz="24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Ожидаемый результат : подготовить и представить код после рефакторинга на компьютерах.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40057731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2A74F9-D5EF-3EDC-95E9-B340754C34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2A9FFD7-D11C-E085-5AD9-457081F593FE}"/>
              </a:ext>
            </a:extLst>
          </p:cNvPr>
          <p:cNvSpPr txBox="1"/>
          <p:nvPr/>
        </p:nvSpPr>
        <p:spPr>
          <a:xfrm>
            <a:off x="1572" y="0"/>
            <a:ext cx="12190428" cy="463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ru-RU" sz="24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Часть 4: Групповое обсуждение и подведение итогов (20 минут)</a:t>
            </a:r>
            <a:endParaRPr lang="ru-RU" sz="2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24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Презентация решений.</a:t>
            </a:r>
            <a:endParaRPr lang="ru-RU" sz="2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 algn="just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ru-RU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Пары по очереди показывают свой </a:t>
            </a:r>
            <a:r>
              <a:rPr lang="ru-RU" sz="24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рефакторенный</a:t>
            </a:r>
            <a:r>
              <a:rPr lang="ru-RU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код и объясняют, какие "запахи" они нашли и как их устранили.</a:t>
            </a:r>
          </a:p>
          <a:p>
            <a:pPr marL="742950" lvl="1" indent="-285750" algn="just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ru-RU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Преподаватель и другие пары задают вопросы.</a:t>
            </a:r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24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Сравнительный анализ.</a:t>
            </a:r>
            <a:endParaRPr lang="ru-RU" sz="2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 algn="just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ru-RU" sz="24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Обсуждение:</a:t>
            </a:r>
            <a:r>
              <a:rPr lang="ru-RU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"Какой вариант читается легче? Какой вариант проще тестировать? Есть ли идеальное решение?"</a:t>
            </a:r>
          </a:p>
          <a:p>
            <a:pPr marL="742950" lvl="1" indent="-285750" algn="just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ru-RU" sz="24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Вывод:</a:t>
            </a:r>
            <a:r>
              <a:rPr lang="ru-RU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Рефакторинг — это во многом искусство. Главный критерий — читаемость и простота поддержки.</a:t>
            </a:r>
          </a:p>
        </p:txBody>
      </p:sp>
    </p:spTree>
    <p:extLst>
      <p:ext uri="{BB962C8B-B14F-4D97-AF65-F5344CB8AC3E}">
        <p14:creationId xmlns:p14="http://schemas.microsoft.com/office/powerpoint/2010/main" val="14759338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65DBE7-A366-9F81-F53A-7BB82A5257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681028F-1000-0B1D-B377-13CAD3342450}"/>
              </a:ext>
            </a:extLst>
          </p:cNvPr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Резюме от преподавателя и ДЗ.</a:t>
            </a: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A37CCC-2B44-6316-31CF-701FE1FC5E20}"/>
              </a:ext>
            </a:extLst>
          </p:cNvPr>
          <p:cNvSpPr txBox="1"/>
          <p:nvPr/>
        </p:nvSpPr>
        <p:spPr>
          <a:xfrm>
            <a:off x="0" y="2659698"/>
            <a:ext cx="1219200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2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Домашнее задание:</a:t>
            </a:r>
            <a:r>
              <a:rPr lang="ru-RU" sz="2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 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найти в своем собственном коде (или в любом открытом проекте на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GitHub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фрагмент с "запахами" и провести его рефакторинг. Прислать код "до" и "после" с пояснением, какие именно проблемы были исправлены.</a:t>
            </a:r>
          </a:p>
        </p:txBody>
      </p:sp>
    </p:spTree>
    <p:extLst>
      <p:ext uri="{BB962C8B-B14F-4D97-AF65-F5344CB8AC3E}">
        <p14:creationId xmlns:p14="http://schemas.microsoft.com/office/powerpoint/2010/main" val="63382351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499</TotalTime>
  <Words>510</Words>
  <Application>Microsoft Office PowerPoint</Application>
  <PresentationFormat>Широкоэкранный</PresentationFormat>
  <Paragraphs>44</Paragraphs>
  <Slides>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5" baseType="lpstr">
      <vt:lpstr>Arial</vt:lpstr>
      <vt:lpstr>Calibri</vt:lpstr>
      <vt:lpstr>Calibri Light</vt:lpstr>
      <vt:lpstr>Courier New</vt:lpstr>
      <vt:lpstr>Symbol</vt:lpstr>
      <vt:lpstr>Times New Roman</vt:lpstr>
      <vt:lpstr>Wingdings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Арсентий Абдалов</dc:creator>
  <cp:lastModifiedBy>Арсентий Абдалов</cp:lastModifiedBy>
  <cp:revision>7</cp:revision>
  <dcterms:created xsi:type="dcterms:W3CDTF">2025-09-19T18:20:34Z</dcterms:created>
  <dcterms:modified xsi:type="dcterms:W3CDTF">2025-10-03T18:29:28Z</dcterms:modified>
</cp:coreProperties>
</file>