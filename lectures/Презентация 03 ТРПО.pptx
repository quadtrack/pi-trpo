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870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6F939B-D03E-D30C-A810-EEBDA71382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D796D6E-ADE2-CD1C-C647-8F50E69FF1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54BB7D-7194-4C9C-A117-D81E37A6B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1B689A0-1B10-B447-8DF5-B76FB086E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72CFA4-E6B4-684D-9E2A-C1B96748D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3290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3E55A4-6149-A983-0363-BFE7D04E4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FAB9FE-B873-3E72-E18C-39A157123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EC2870-7F6E-109B-8041-25E74D47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13C32C-236A-F54D-E292-41D0CA490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4F8EDF-1B27-7091-7D47-5775A543A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837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AFCB83-D2FC-83AB-039E-72B248473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1E649E9-8EA1-1378-239D-EFC635AF1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EE3025-46A2-5F31-ED73-E78860B35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806FFF-C6C0-5DE1-F22F-F4C6828D0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8F3275-CFFB-FB65-9D5C-14A3FAF5B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4049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956727-548A-3309-C384-2C15A8C9F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70AFF7-FE6C-8D72-91DE-19FECB3BBF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80A1665-FAD8-2AA9-4057-198007F3F6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89E6712-3ED8-DABB-C8FC-43C31B7AB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20F49A-8F5E-A113-1FFC-C2501B616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B6FB815-92B1-1F33-286B-8343A8E90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8956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C89510-A44E-03DE-C188-5FEEA9641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529430F-EA7F-1C72-879C-4BBC4175BE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66FDB1E-510D-4A5F-8A3F-9B1F5D08D2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54DC8E5-52AA-7753-3566-A382C6CE5F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7779F90-47D7-2460-83A8-B62CAEB878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50C7755-3347-4D90-6EF8-2DD306C3F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BDDCA8A-A2AF-401A-C284-5EA347E38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01B781E-BB26-1167-2ACB-AD005A8FB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6309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F3A3E7-F129-6CD9-9D39-C0C4BD52E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4DBD420-4980-6586-AF75-9993055C4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AA0E24F-43AF-7E00-5BDC-D271F6C8C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9ED13AB-62D2-A8C2-247B-6C990616B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2463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830C6C5-A9A9-A031-9835-3E445316D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D157B3B-236F-59DB-B6BD-126655F86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18F42D4-D553-08AE-0D3F-1AE23CB37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7519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C2B731-F2CF-CED1-E595-603B6F460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6A1EE9-BB36-302B-9B21-7BC53E358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F993FB8-D340-AA88-8A83-9F640F14B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CE24426-0AF0-F702-3E6F-EB5E7FD50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F127403-AFF5-A1F1-C38B-EAE576746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DD87016-7C3B-8820-5FFA-E1F41226C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7180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083BC2-5D8C-6DCC-9DB4-22045EA48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43429BF-C80C-6FB7-B257-57CBDC1FDD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7AF6F03-3F54-0FBC-2041-1417E6AF34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97682CD-F275-E00C-9E86-EC98EA0FF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9F279DD-417B-2C4B-28BA-0A5350BBA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514FC7C-95BE-CB51-FA62-273D7A50E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7616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50BA6A-9AE9-7C7A-3926-887923A35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89E3E1A-29AD-799B-AF38-5D6203AD2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281B96-8B5E-3649-E736-48828CE42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B8976D-6341-2F02-209A-1BABFE625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76A6FD-5AF5-7F33-A734-7DD6D253A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4221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CB62C44-C171-CB5F-5F56-26B88D1D7A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B4AD2F9-ED0C-7417-1C1D-386663A0E2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38FE3A7-8B80-C7F0-DB9F-7B2D2E1B4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74A1F5-D0C0-746C-9FDA-EAFD1369D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B8AE5F-419C-3412-B52D-B3C77E65A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4399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0A8ACE-89FD-86A8-11E5-2DE20E721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973113E-A006-24C6-0730-C1738BF2D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570BD6-0B00-7DFA-125A-629E83DD7C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A62E36-7B94-44FF-8913-FF4B90064E98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C25892-923C-BAE0-48E6-F7061E8AD4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C92736-5165-6F55-7961-EA2F0F9565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9764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68A2FC49-0F3D-10F3-3C58-C150ADDDA79A}"/>
              </a:ext>
            </a:extLst>
          </p:cNvPr>
          <p:cNvSpPr>
            <a:spLocks noGrp="1"/>
          </p:cNvSpPr>
          <p:nvPr/>
        </p:nvSpPr>
        <p:spPr>
          <a:xfrm>
            <a:off x="767408" y="637906"/>
            <a:ext cx="10009112" cy="115212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 разработки программного обеспечения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CF9474D-52CF-A0C1-82BD-88882A3B6B89}"/>
              </a:ext>
            </a:extLst>
          </p:cNvPr>
          <p:cNvSpPr/>
          <p:nvPr/>
        </p:nvSpPr>
        <p:spPr>
          <a:xfrm>
            <a:off x="2328709" y="5850762"/>
            <a:ext cx="7357848" cy="3693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ru-RU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СРЕДНЕРУССКИЙ ИНСТИТУТ УПРАВЛЕНИЯ - РАНХиГС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D372B26-2A09-4EED-6486-A25A87BA09D9}"/>
              </a:ext>
            </a:extLst>
          </p:cNvPr>
          <p:cNvSpPr/>
          <p:nvPr/>
        </p:nvSpPr>
        <p:spPr>
          <a:xfrm>
            <a:off x="1991544" y="5073564"/>
            <a:ext cx="7560840" cy="6463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Доцент кафедры «Математики и информационных технологий», кандидат технических наук Абдалов Арсентий Владимирович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C8FFEF4D-BCEA-CBA4-F2AB-011E6A9000B2}"/>
              </a:ext>
            </a:extLst>
          </p:cNvPr>
          <p:cNvSpPr txBox="1"/>
          <p:nvPr/>
        </p:nvSpPr>
        <p:spPr>
          <a:xfrm>
            <a:off x="0" y="2698876"/>
            <a:ext cx="1219199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Практическое занятие №3: Создание UML-диаграмм по техническому заданию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2189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81224-752A-DFD2-CFBE-6223E6F32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B05BA81-1097-457A-493F-2E5B52C3C659}"/>
              </a:ext>
            </a:extLst>
          </p:cNvPr>
          <p:cNvSpPr txBox="1"/>
          <p:nvPr/>
        </p:nvSpPr>
        <p:spPr>
          <a:xfrm>
            <a:off x="0" y="1065229"/>
            <a:ext cx="12192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800" b="1" dirty="0"/>
              <a:t>Цель занятия:</a:t>
            </a:r>
            <a:r>
              <a:rPr lang="ru-RU" sz="2800" dirty="0"/>
              <a:t> Получить практические навыки визуального моделирования программных систем с помощью UML на основе текстового описания требований.</a:t>
            </a:r>
            <a:endParaRPr lang="en-US" sz="2800" kern="1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/>
            <a:br>
              <a:rPr lang="ru-RU" sz="3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ru-RU" sz="3200" b="1" dirty="0"/>
              <a:t>Формат:</a:t>
            </a:r>
            <a:r>
              <a:rPr lang="ru-RU" sz="3200" dirty="0"/>
              <a:t> Мини-лекция -&gt; Индивидуальная работа -&gt; Работа в парах/группах -&gt; Презентация и обсуждение.</a:t>
            </a:r>
          </a:p>
        </p:txBody>
      </p:sp>
    </p:spTree>
    <p:extLst>
      <p:ext uri="{BB962C8B-B14F-4D97-AF65-F5344CB8AC3E}">
        <p14:creationId xmlns:p14="http://schemas.microsoft.com/office/powerpoint/2010/main" val="2994999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7E35A-9FE6-BF18-E83B-21E665C07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3D95F5-E1EE-9E17-6877-99C3F009657C}"/>
              </a:ext>
            </a:extLst>
          </p:cNvPr>
          <p:cNvSpPr txBox="1"/>
          <p:nvPr/>
        </p:nvSpPr>
        <p:spPr>
          <a:xfrm>
            <a:off x="0" y="209669"/>
            <a:ext cx="12192000" cy="5748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Краткое повторение ключевых UML-диаграмм.</a:t>
            </a:r>
            <a:endParaRPr lang="ru-RU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8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</a:t>
            </a:r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Case </a:t>
            </a:r>
            <a:r>
              <a:rPr lang="ru-RU" sz="28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Diagram</a:t>
            </a:r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(Диаграмма вариантов использования):</a:t>
            </a:r>
            <a:endParaRPr lang="ru-RU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 algn="just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Цель: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Показать взаимодействие между акторами и системой. Отвечает на вопрос "Что система делает?"</a:t>
            </a:r>
          </a:p>
          <a:p>
            <a:pPr marL="1143000" lvl="2" indent="-228600" algn="just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Элементы: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Актор (человечек), </a:t>
            </a:r>
            <a:r>
              <a:rPr lang="ru-RU" sz="2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Case (овал), связи (</a:t>
            </a:r>
            <a:r>
              <a:rPr lang="ru-RU" sz="2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associations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), включающие (</a:t>
            </a:r>
            <a:r>
              <a:rPr lang="ru-RU" sz="2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include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и расширяющие (</a:t>
            </a:r>
            <a:r>
              <a:rPr lang="ru-RU" sz="2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extend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связи.</a:t>
            </a: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Class </a:t>
            </a:r>
            <a:r>
              <a:rPr lang="ru-RU" sz="28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Diagram</a:t>
            </a:r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(Диаграмма классов):</a:t>
            </a:r>
            <a:endParaRPr lang="ru-RU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 algn="just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Цель: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Показать статическую структуру системы: классы, их атрибуты, методы и взаимосвязи.</a:t>
            </a:r>
          </a:p>
          <a:p>
            <a:pPr marL="1143000" lvl="2" indent="-228600" algn="just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Элементы: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Класс (прямоугольник с тремя секциями: имя, атрибуты, методы), ассоциации, наследование, агрегация, композиция.</a:t>
            </a:r>
          </a:p>
        </p:txBody>
      </p:sp>
    </p:spTree>
    <p:extLst>
      <p:ext uri="{BB962C8B-B14F-4D97-AF65-F5344CB8AC3E}">
        <p14:creationId xmlns:p14="http://schemas.microsoft.com/office/powerpoint/2010/main" val="3902855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64488-814E-98A7-32AA-BF2EBD1FD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40CCB4-9365-A179-CA2E-9D6E1B0A8640}"/>
              </a:ext>
            </a:extLst>
          </p:cNvPr>
          <p:cNvSpPr txBox="1"/>
          <p:nvPr/>
        </p:nvSpPr>
        <p:spPr>
          <a:xfrm>
            <a:off x="0" y="209669"/>
            <a:ext cx="12192000" cy="3288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позволяет читателям искать книги по каталогу, бронировать их онлайн и продлевать срок бронирования. Библиотекарь добавляет новые книги в каталог, управляет бронированиями и просматривает отчеты о популярности книг. Администратор системы управляет учетными записями пользователей (читателей и библиотекарей). У каждой книги есть уникальный ID, название, автор, жанр, год издания и статус (доступна, забронирована). Читатель может иметь не более 3 книг одновременно.</a:t>
            </a:r>
            <a:endParaRPr lang="ru-RU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8211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9B273-3A88-27A8-3287-15B9AE9E4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35DECA5-6E89-23AA-B4A6-F1773519B763}"/>
              </a:ext>
            </a:extLst>
          </p:cNvPr>
          <p:cNvSpPr txBox="1"/>
          <p:nvPr/>
        </p:nvSpPr>
        <p:spPr>
          <a:xfrm>
            <a:off x="0" y="0"/>
            <a:ext cx="12192000" cy="620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20-40 мин: Индивидуальная работа над </a:t>
            </a:r>
            <a:r>
              <a:rPr lang="ru-RU" sz="28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</a:t>
            </a:r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Case </a:t>
            </a:r>
            <a:r>
              <a:rPr lang="ru-RU" sz="28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Diagram</a:t>
            </a:r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Задача для студентов: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На основе ТЗ создать Диаграмму вариантов использования (</a:t>
            </a:r>
            <a:r>
              <a:rPr lang="ru-RU" sz="2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Case </a:t>
            </a:r>
            <a:r>
              <a:rPr lang="ru-RU" sz="2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Diagram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Инструкция: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Выявить всех акторов и все основные сценарии использования (</a:t>
            </a:r>
            <a:r>
              <a:rPr lang="ru-RU" sz="2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Cases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 Правильно применить связи </a:t>
            </a:r>
            <a:r>
              <a:rPr lang="ru-RU" sz="2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include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и </a:t>
            </a:r>
            <a:r>
              <a:rPr lang="ru-RU" sz="2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extend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Пример элементов для диаграммы:</a:t>
            </a:r>
            <a:endParaRPr lang="ru-RU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 algn="just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Акторы: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Читатель, Библиотекарь, Администратор.</a:t>
            </a:r>
          </a:p>
          <a:p>
            <a:pPr marL="1143000" lvl="2" indent="-228600" algn="just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ru-RU" sz="28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</a:t>
            </a:r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8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Cases</a:t>
            </a:r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Поиск книги, Забронировать книгу, Продлить бронь, Добавить книгу, Удалить книгу, Управление пользователями, Просмотр отчетов.</a:t>
            </a:r>
          </a:p>
          <a:p>
            <a:pPr marL="1143000" lvl="2" indent="-228600" algn="just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Связь: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Например, "Забронировать книгу" </a:t>
            </a:r>
            <a:r>
              <a:rPr lang="ru-RU" sz="2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включает (</a:t>
            </a:r>
            <a:r>
              <a:rPr lang="ru-RU" sz="2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includes</a:t>
            </a:r>
            <a:r>
              <a:rPr lang="ru-RU" sz="2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"Поиск книги".</a:t>
            </a:r>
          </a:p>
        </p:txBody>
      </p:sp>
    </p:spTree>
    <p:extLst>
      <p:ext uri="{BB962C8B-B14F-4D97-AF65-F5344CB8AC3E}">
        <p14:creationId xmlns:p14="http://schemas.microsoft.com/office/powerpoint/2010/main" val="3247921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093BB-28D8-5920-947A-19F2B3332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5CFEE48-C5BA-7037-BDD9-E1477A3B411E}"/>
              </a:ext>
            </a:extLst>
          </p:cNvPr>
          <p:cNvSpPr txBox="1"/>
          <p:nvPr/>
        </p:nvSpPr>
        <p:spPr>
          <a:xfrm>
            <a:off x="0" y="0"/>
            <a:ext cx="12192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45-50 мин: Формирование групп и постановка задачи.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Студенты делятся на группы по 3-4 человека.</a:t>
            </a:r>
          </a:p>
          <a:p>
            <a:pPr lvl="1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Задача: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Создать Диаграмму классов (Class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для системы "Онлайн-библиотека".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Фокус: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Не на методах, а на атрибутах и связях между классами.</a:t>
            </a:r>
            <a:endParaRPr lang="ru-RU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5264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F9514-EB2B-9200-E511-631CB5C4F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4999DDF-7A8F-F955-44C1-60C32B570990}"/>
              </a:ext>
            </a:extLst>
          </p:cNvPr>
          <p:cNvSpPr txBox="1"/>
          <p:nvPr/>
        </p:nvSpPr>
        <p:spPr>
          <a:xfrm>
            <a:off x="0" y="0"/>
            <a:ext cx="12192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50-65 мин: Групповая работа.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Группы анализируют ТЗ и выявляют ключевые сущности (классы).</a:t>
            </a:r>
          </a:p>
          <a:p>
            <a:pPr lvl="1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Примерный перечень классов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Book, Reader, Librarian, Administrator, Reservation, Catalog.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Задание: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каждого класса определить ключевые атрибуты (например, Book: 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bookId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author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lvl="2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Определить типы данных для атрибутов (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DateTime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enum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lvl="2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Определить связи между классами и их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multiplicity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(множественность):</a:t>
            </a:r>
          </a:p>
          <a:p>
            <a:pPr lvl="3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Reader --(0..*)---- 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Reservation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--(1)---- Book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(Читатель может иметь от 0 до нескольких броней. Каждая бронь связана ровно с одной книгой).</a:t>
            </a:r>
            <a:endParaRPr lang="ru-RU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7204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EA02B-13E5-145E-B553-7B4EB49AE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27C38ED-C707-8AB0-3FD6-64CF08E4F043}"/>
              </a:ext>
            </a:extLst>
          </p:cNvPr>
          <p:cNvSpPr txBox="1"/>
          <p:nvPr/>
        </p:nvSpPr>
        <p:spPr>
          <a:xfrm>
            <a:off x="0" y="0"/>
            <a:ext cx="12192000" cy="2110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65-70 мин: Подготовка к презентации.</a:t>
            </a:r>
            <a:endParaRPr lang="ru-RU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Группы финализируют свои диаграммы классов на компьютере или на большом листе бумаги.</a:t>
            </a:r>
            <a:endParaRPr lang="en-US" sz="28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Выбирают выступающего.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246838-A6B9-6FEA-5E21-5BD64BB180EE}"/>
              </a:ext>
            </a:extLst>
          </p:cNvPr>
          <p:cNvSpPr txBox="1"/>
          <p:nvPr/>
        </p:nvSpPr>
        <p:spPr>
          <a:xfrm>
            <a:off x="0" y="2110514"/>
            <a:ext cx="12192000" cy="2213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Презентация и "код-ревью" диаграмм.</a:t>
            </a:r>
            <a:endParaRPr lang="ru-RU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Каждая группа представляет свою диаграмму классов на 2-3 минуты.</a:t>
            </a: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Другие группы и преподаватель выступают в роли рецензентов:</a:t>
            </a: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Акцент на обсуждении архитектурных решений, а не на мелких ошибках.</a:t>
            </a:r>
          </a:p>
        </p:txBody>
      </p:sp>
    </p:spTree>
    <p:extLst>
      <p:ext uri="{BB962C8B-B14F-4D97-AF65-F5344CB8AC3E}">
        <p14:creationId xmlns:p14="http://schemas.microsoft.com/office/powerpoint/2010/main" val="2609073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EE8C6-A1E0-5991-99E1-8985F972C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376651F-7470-03BB-E7D1-849B3ADE94C4}"/>
              </a:ext>
            </a:extLst>
          </p:cNvPr>
          <p:cNvSpPr txBox="1"/>
          <p:nvPr/>
        </p:nvSpPr>
        <p:spPr>
          <a:xfrm>
            <a:off x="0" y="2036626"/>
            <a:ext cx="12192000" cy="3032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Задание: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На основе ТЗ для вашего собственного проекта (из ДЗ №1) создать две UML-диаграммы:</a:t>
            </a:r>
          </a:p>
          <a:p>
            <a:pPr marL="1143000" lvl="2" indent="-2286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1371600" algn="l"/>
              </a:tabLst>
            </a:pPr>
            <a:r>
              <a:rPr lang="ru-RU" sz="28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</a:t>
            </a:r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Case </a:t>
            </a:r>
            <a:r>
              <a:rPr lang="ru-RU" sz="28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Diagram</a:t>
            </a:r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Отображающую всех акторов и их взаимодействие с системой.</a:t>
            </a:r>
          </a:p>
          <a:p>
            <a:pPr marL="1143000" lvl="2" indent="-2286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1371600" algn="l"/>
              </a:tabLst>
            </a:pPr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Class </a:t>
            </a:r>
            <a:r>
              <a:rPr lang="ru-RU" sz="28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Diagram</a:t>
            </a:r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Отображающую ключевые сущности системы, их атрибуты и связи.</a:t>
            </a:r>
          </a:p>
        </p:txBody>
      </p:sp>
    </p:spTree>
    <p:extLst>
      <p:ext uri="{BB962C8B-B14F-4D97-AF65-F5344CB8AC3E}">
        <p14:creationId xmlns:p14="http://schemas.microsoft.com/office/powerpoint/2010/main" val="414950384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600</Words>
  <Application>Microsoft Office PowerPoint</Application>
  <PresentationFormat>Широкоэкранный</PresentationFormat>
  <Paragraphs>44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7" baseType="lpstr">
      <vt:lpstr>Arial</vt:lpstr>
      <vt:lpstr>Calibri</vt:lpstr>
      <vt:lpstr>Calibri Light</vt:lpstr>
      <vt:lpstr>Courier New</vt:lpstr>
      <vt:lpstr>Symbol</vt:lpstr>
      <vt:lpstr>Times New Roman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Арсентий Абдалов</dc:creator>
  <cp:lastModifiedBy>Арсентий Абдалов</cp:lastModifiedBy>
  <cp:revision>4</cp:revision>
  <dcterms:created xsi:type="dcterms:W3CDTF">2025-09-19T18:20:34Z</dcterms:created>
  <dcterms:modified xsi:type="dcterms:W3CDTF">2025-09-26T20:25:13Z</dcterms:modified>
</cp:coreProperties>
</file>